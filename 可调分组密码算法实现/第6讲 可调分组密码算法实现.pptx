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3" r:id="rId4"/>
  </p:sldMasterIdLst>
  <p:notesMasterIdLst>
    <p:notesMasterId r:id="rId6"/>
  </p:notesMasterIdLst>
  <p:sldIdLst>
    <p:sldId id="256" r:id="rId5"/>
    <p:sldId id="625" r:id="rId7"/>
    <p:sldId id="626" r:id="rId8"/>
    <p:sldId id="627" r:id="rId9"/>
    <p:sldId id="406" r:id="rId10"/>
    <p:sldId id="566" r:id="rId11"/>
    <p:sldId id="567" r:id="rId12"/>
    <p:sldId id="628" r:id="rId13"/>
    <p:sldId id="629" r:id="rId14"/>
    <p:sldId id="630" r:id="rId15"/>
    <p:sldId id="571" r:id="rId16"/>
    <p:sldId id="631" r:id="rId17"/>
    <p:sldId id="637" r:id="rId18"/>
    <p:sldId id="634" r:id="rId19"/>
    <p:sldId id="635" r:id="rId20"/>
    <p:sldId id="636" r:id="rId21"/>
    <p:sldId id="638" r:id="rId22"/>
    <p:sldId id="639" r:id="rId23"/>
    <p:sldId id="572" r:id="rId24"/>
    <p:sldId id="535" r:id="rId25"/>
    <p:sldId id="553" r:id="rId26"/>
    <p:sldId id="565" r:id="rId27"/>
  </p:sldIdLst>
  <p:sldSz cx="13004800" cy="9753600"/>
  <p:notesSz cx="6858000" cy="9144000"/>
  <p:custDataLst>
    <p:tags r:id="rId32"/>
  </p:custDataLst>
  <p:defaultTextStyle>
    <a:defPPr>
      <a:defRPr lang="zh-CN"/>
    </a:defPPr>
    <a:lvl1pPr marL="0" lvl="0" indent="0" algn="l" defTabSz="584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000000"/>
        </a:solidFill>
        <a:latin typeface="Helvetica Neue" charset="0"/>
        <a:ea typeface="Helvetica Neue" charset="0"/>
        <a:cs typeface="+mn-cs"/>
        <a:sym typeface="Helvetica Neue" charset="0"/>
      </a:defRPr>
    </a:lvl1pPr>
    <a:lvl2pPr marL="457200" lvl="1" indent="0" algn="l" defTabSz="584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000000"/>
        </a:solidFill>
        <a:latin typeface="Helvetica Neue" charset="0"/>
        <a:ea typeface="Helvetica Neue" charset="0"/>
        <a:cs typeface="+mn-cs"/>
        <a:sym typeface="Helvetica Neue" charset="0"/>
      </a:defRPr>
    </a:lvl2pPr>
    <a:lvl3pPr marL="914400" lvl="2" indent="0" algn="l" defTabSz="584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000000"/>
        </a:solidFill>
        <a:latin typeface="Helvetica Neue" charset="0"/>
        <a:ea typeface="Helvetica Neue" charset="0"/>
        <a:cs typeface="+mn-cs"/>
        <a:sym typeface="Helvetica Neue" charset="0"/>
      </a:defRPr>
    </a:lvl3pPr>
    <a:lvl4pPr marL="1371600" lvl="3" indent="0" algn="l" defTabSz="584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000000"/>
        </a:solidFill>
        <a:latin typeface="Helvetica Neue" charset="0"/>
        <a:ea typeface="Helvetica Neue" charset="0"/>
        <a:cs typeface="+mn-cs"/>
        <a:sym typeface="Helvetica Neue" charset="0"/>
      </a:defRPr>
    </a:lvl4pPr>
    <a:lvl5pPr marL="1828800" lvl="4" indent="0" algn="l" defTabSz="584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000000"/>
        </a:solidFill>
        <a:latin typeface="Helvetica Neue" charset="0"/>
        <a:ea typeface="Helvetica Neue" charset="0"/>
        <a:cs typeface="+mn-cs"/>
        <a:sym typeface="Helvetica Neue" charset="0"/>
      </a:defRPr>
    </a:lvl5pPr>
    <a:lvl6pPr marL="2286000" lvl="5" indent="0" algn="l" defTabSz="584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000000"/>
        </a:solidFill>
        <a:latin typeface="Helvetica Neue" charset="0"/>
        <a:ea typeface="Helvetica Neue" charset="0"/>
        <a:cs typeface="+mn-cs"/>
        <a:sym typeface="Helvetica Neue" charset="0"/>
      </a:defRPr>
    </a:lvl6pPr>
    <a:lvl7pPr marL="2743200" lvl="6" indent="0" algn="l" defTabSz="584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000000"/>
        </a:solidFill>
        <a:latin typeface="Helvetica Neue" charset="0"/>
        <a:ea typeface="Helvetica Neue" charset="0"/>
        <a:cs typeface="+mn-cs"/>
        <a:sym typeface="Helvetica Neue" charset="0"/>
      </a:defRPr>
    </a:lvl7pPr>
    <a:lvl8pPr marL="3200400" lvl="7" indent="0" algn="l" defTabSz="584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000000"/>
        </a:solidFill>
        <a:latin typeface="Helvetica Neue" charset="0"/>
        <a:ea typeface="Helvetica Neue" charset="0"/>
        <a:cs typeface="+mn-cs"/>
        <a:sym typeface="Helvetica Neue" charset="0"/>
      </a:defRPr>
    </a:lvl8pPr>
    <a:lvl9pPr marL="3657600" lvl="8" indent="0" algn="l" defTabSz="584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000000"/>
        </a:solidFill>
        <a:latin typeface="Helvetica Neue" charset="0"/>
        <a:ea typeface="Helvetica Neue" charset="0"/>
        <a:cs typeface="+mn-cs"/>
        <a:sym typeface="Helvetica Neue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n Siwei" initials="C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0FF1"/>
    <a:srgbClr val="CCECFF"/>
    <a:srgbClr val="9100CE"/>
    <a:srgbClr val="AA1DB2"/>
    <a:srgbClr val="ED7013"/>
    <a:srgbClr val="008000"/>
    <a:srgbClr val="20A31D"/>
    <a:srgbClr val="006600"/>
    <a:srgbClr val="7030A0"/>
    <a:srgbClr val="007A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9" autoAdjust="0"/>
    <p:restoredTop sz="92649" autoAdjust="0"/>
  </p:normalViewPr>
  <p:slideViewPr>
    <p:cSldViewPr showGuides="1">
      <p:cViewPr varScale="1">
        <p:scale>
          <a:sx n="54" d="100"/>
          <a:sy n="54" d="100"/>
        </p:scale>
        <p:origin x="1291" y="82"/>
      </p:cViewPr>
      <p:guideLst>
        <p:guide orient="horz" pos="3103"/>
        <p:guide pos="40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2" Type="http://schemas.openxmlformats.org/officeDocument/2006/relationships/tags" Target="tags/tag1.xml"/><Relationship Id="rId31" Type="http://schemas.openxmlformats.org/officeDocument/2006/relationships/commentAuthors" Target="commentAuthors.xml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2050" name="Rectangle 2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457200" rtl="0" eaLnBrk="1" fontAlgn="base" latinLnBrk="0" hangingPunct="0">
              <a:lnSpc>
                <a:spcPct val="11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Click to edit Master text styles</a:t>
            </a:r>
            <a:endParaRPr kumimoji="0" lang="zh-CN" altLang="zh-CN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  <a:p>
            <a:pPr marL="0" marR="0" lvl="1" indent="228600" algn="l" defTabSz="457200" rtl="0" eaLnBrk="1" fontAlgn="base" latinLnBrk="0" hangingPunct="0">
              <a:lnSpc>
                <a:spcPct val="11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Second level</a:t>
            </a:r>
            <a:endParaRPr kumimoji="0" lang="zh-CN" altLang="zh-CN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  <a:p>
            <a:pPr marL="0" marR="0" lvl="2" indent="457200" algn="l" defTabSz="457200" rtl="0" eaLnBrk="1" fontAlgn="base" latinLnBrk="0" hangingPunct="0">
              <a:lnSpc>
                <a:spcPct val="11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Third level</a:t>
            </a:r>
            <a:endParaRPr kumimoji="0" lang="zh-CN" altLang="zh-CN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  <a:p>
            <a:pPr marL="0" marR="0" lvl="3" indent="685800" algn="l" defTabSz="457200" rtl="0" eaLnBrk="1" fontAlgn="base" latinLnBrk="0" hangingPunct="0">
              <a:lnSpc>
                <a:spcPct val="11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Fourth level</a:t>
            </a:r>
            <a:endParaRPr kumimoji="0" lang="zh-CN" altLang="zh-CN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  <a:p>
            <a:pPr marL="0" marR="0" lvl="4" indent="914400" algn="l" defTabSz="457200" rtl="0" eaLnBrk="1" fontAlgn="base" latinLnBrk="0" hangingPunct="0">
              <a:lnSpc>
                <a:spcPct val="11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Fifth level</a:t>
            </a:r>
            <a:endParaRPr kumimoji="0" lang="zh-CN" altLang="zh-CN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457200" rtl="0" fontAlgn="base" hangingPunct="0">
      <a:lnSpc>
        <a:spcPct val="116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1pPr>
    <a:lvl2pPr indent="228600" algn="l" defTabSz="457200" rtl="0" fontAlgn="base" hangingPunct="0">
      <a:lnSpc>
        <a:spcPct val="116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2pPr>
    <a:lvl3pPr indent="457200" algn="l" defTabSz="457200" rtl="0" fontAlgn="base" hangingPunct="0">
      <a:lnSpc>
        <a:spcPct val="116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3pPr>
    <a:lvl4pPr indent="685800" algn="l" defTabSz="457200" rtl="0" fontAlgn="base" hangingPunct="0">
      <a:lnSpc>
        <a:spcPct val="116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4pPr>
    <a:lvl5pPr indent="914400" algn="l" defTabSz="457200" rtl="0" fontAlgn="base" hangingPunct="0">
      <a:lnSpc>
        <a:spcPct val="116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rc[16] = { 0x1000000020000000, 0x3000000020000000, 0x7000000020000000, 0xf000000020000000, 0xf000100020000000, 0xe000300020000000, 0xd000300020000000, 0xb000300020000000, 0x7000300020000000, 0xf000200020000000, 0xe000100020000000, 0xc000300020000000, 0x9000300020000000, 0x3000300020000000, 0x7000200020000000, 0xe000000020000000 };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 bwMode="auto">
          <a:xfrm>
            <a:off x="0" y="1420416"/>
            <a:ext cx="13004800" cy="360040"/>
          </a:xfrm>
          <a:prstGeom prst="rect">
            <a:avLst/>
          </a:prstGeom>
          <a:solidFill>
            <a:srgbClr val="008000"/>
          </a:solidFill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50800" tIns="50800" rIns="50800" bIns="50800" numCol="1" rtlCol="0" anchor="ctr" anchorCtr="0" compatLnSpc="1"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7413" y="2432050"/>
            <a:ext cx="11217275" cy="40560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7413" y="6527800"/>
            <a:ext cx="11217275" cy="213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6327775" y="9296400"/>
            <a:ext cx="339725" cy="323850"/>
          </a:xfrm>
          <a:prstGeom prst="rect">
            <a:avLst/>
          </a:prstGeom>
        </p:spPr>
        <p:txBody>
          <a:bodyPr/>
          <a:lstStyle/>
          <a:p>
            <a:pPr lvl="0" eaLnBrk="1"/>
            <a:fld id="{9A0DB2DC-4C9A-4742-B13C-FB6460FD3503}" type="slidenum">
              <a:rPr lang="zh-CN" altLang="zh-CN">
                <a:cs typeface="Helvetica Neue Light" charset="0"/>
                <a:sym typeface="Helvetica Neue Light" charset="0"/>
              </a:rPr>
            </a:fld>
            <a:endParaRPr lang="zh-CN" altLang="zh-CN">
              <a:latin typeface="Helvetica Neue" charset="0"/>
              <a:cs typeface="Helvetica Neue Light" charset="0"/>
              <a:sym typeface="Helvetica Neue Light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4725" y="3028950"/>
            <a:ext cx="11053763" cy="20907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949450" y="5526088"/>
            <a:ext cx="4475163" cy="24923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77013" y="5526088"/>
            <a:ext cx="4476750" cy="24923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>
          <a:xfrm>
            <a:off x="6327775" y="9296400"/>
            <a:ext cx="339725" cy="323850"/>
          </a:xfrm>
          <a:prstGeom prst="rect">
            <a:avLst/>
          </a:prstGeom>
        </p:spPr>
        <p:txBody>
          <a:bodyPr/>
          <a:lstStyle/>
          <a:p>
            <a:pPr lvl="0" eaLnBrk="1"/>
            <a:fld id="{9A0DB2DC-4C9A-4742-B13C-FB6460FD3503}" type="slidenum">
              <a:rPr lang="zh-CN" altLang="zh-CN">
                <a:cs typeface="Helvetica Neue Light" charset="0"/>
                <a:sym typeface="Helvetica Neue Light" charset="0"/>
              </a:rPr>
            </a:fld>
            <a:endParaRPr lang="zh-CN" altLang="zh-CN">
              <a:latin typeface="Helvetica Neue" charset="0"/>
              <a:cs typeface="Helvetica Neue Light" charset="0"/>
              <a:sym typeface="Helvetica Neue Light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5350" y="519113"/>
            <a:ext cx="11217275" cy="18859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5350" y="2390775"/>
            <a:ext cx="5502275" cy="11715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5350" y="3562350"/>
            <a:ext cx="5502275" cy="5240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83363" y="2390775"/>
            <a:ext cx="5529262" cy="11715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83363" y="3562350"/>
            <a:ext cx="5529262" cy="5240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>
          <a:xfrm>
            <a:off x="6327775" y="9296400"/>
            <a:ext cx="339725" cy="323850"/>
          </a:xfrm>
          <a:prstGeom prst="rect">
            <a:avLst/>
          </a:prstGeom>
        </p:spPr>
        <p:txBody>
          <a:bodyPr/>
          <a:lstStyle/>
          <a:p>
            <a:pPr lvl="0" eaLnBrk="1"/>
            <a:fld id="{9A0DB2DC-4C9A-4742-B13C-FB6460FD3503}" type="slidenum">
              <a:rPr lang="zh-CN" altLang="zh-CN">
                <a:cs typeface="Helvetica Neue Light" charset="0"/>
                <a:sym typeface="Helvetica Neue Light" charset="0"/>
              </a:rPr>
            </a:fld>
            <a:endParaRPr lang="zh-CN" altLang="zh-CN">
              <a:latin typeface="Helvetica Neue" charset="0"/>
              <a:cs typeface="Helvetica Neue Light" charset="0"/>
              <a:sym typeface="Helvetica Neue Light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4725" y="3028950"/>
            <a:ext cx="11053763" cy="20907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6327775" y="9296400"/>
            <a:ext cx="339725" cy="323850"/>
          </a:xfrm>
          <a:prstGeom prst="rect">
            <a:avLst/>
          </a:prstGeom>
        </p:spPr>
        <p:txBody>
          <a:bodyPr/>
          <a:lstStyle/>
          <a:p>
            <a:pPr lvl="0" eaLnBrk="1"/>
            <a:fld id="{9A0DB2DC-4C9A-4742-B13C-FB6460FD3503}" type="slidenum">
              <a:rPr lang="zh-CN" altLang="zh-CN">
                <a:cs typeface="Helvetica Neue Light" charset="0"/>
                <a:sym typeface="Helvetica Neue Light" charset="0"/>
              </a:rPr>
            </a:fld>
            <a:endParaRPr lang="zh-CN" altLang="zh-CN">
              <a:latin typeface="Helvetica Neue" charset="0"/>
              <a:cs typeface="Helvetica Neue Light" charset="0"/>
              <a:sym typeface="Helvetica Neue Light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6327775" y="9296400"/>
            <a:ext cx="339725" cy="323850"/>
          </a:xfrm>
          <a:prstGeom prst="rect">
            <a:avLst/>
          </a:prstGeom>
        </p:spPr>
        <p:txBody>
          <a:bodyPr/>
          <a:lstStyle/>
          <a:p>
            <a:pPr lvl="0" eaLnBrk="1"/>
            <a:fld id="{9A0DB2DC-4C9A-4742-B13C-FB6460FD3503}" type="slidenum">
              <a:rPr lang="zh-CN" altLang="zh-CN">
                <a:cs typeface="Helvetica Neue Light" charset="0"/>
                <a:sym typeface="Helvetica Neue Light" charset="0"/>
              </a:rPr>
            </a:fld>
            <a:endParaRPr lang="zh-CN" altLang="zh-CN">
              <a:latin typeface="Helvetica Neue" charset="0"/>
              <a:cs typeface="Helvetica Neue Light" charset="0"/>
              <a:sym typeface="Helvetica Neue Light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5350" y="650875"/>
            <a:ext cx="4194175" cy="2274888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29263" y="1404938"/>
            <a:ext cx="6583362" cy="69310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95350" y="2925763"/>
            <a:ext cx="4194175" cy="5421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>
          <a:xfrm>
            <a:off x="6327775" y="9296400"/>
            <a:ext cx="339725" cy="323850"/>
          </a:xfrm>
          <a:prstGeom prst="rect">
            <a:avLst/>
          </a:prstGeom>
        </p:spPr>
        <p:txBody>
          <a:bodyPr/>
          <a:lstStyle/>
          <a:p>
            <a:pPr lvl="0" eaLnBrk="1"/>
            <a:fld id="{9A0DB2DC-4C9A-4742-B13C-FB6460FD3503}" type="slidenum">
              <a:rPr lang="zh-CN" altLang="zh-CN">
                <a:cs typeface="Helvetica Neue Light" charset="0"/>
                <a:sym typeface="Helvetica Neue Light" charset="0"/>
              </a:rPr>
            </a:fld>
            <a:endParaRPr lang="zh-CN" altLang="zh-CN">
              <a:latin typeface="Helvetica Neue" charset="0"/>
              <a:cs typeface="Helvetica Neue Light" charset="0"/>
              <a:sym typeface="Helvetica Neue Light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5350" y="650875"/>
            <a:ext cx="4194175" cy="2274888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529263" y="1404938"/>
            <a:ext cx="6583362" cy="6931025"/>
          </a:xfrm>
          <a:prstGeom prst="rect">
            <a:avLst/>
          </a:prstGeom>
        </p:spPr>
        <p:txBody>
          <a:bodyPr vert="horz" wrap="square" lIns="50800" tIns="50800" rIns="50800" bIns="50800" numCol="1" anchor="ctr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584200" rtl="0" eaLnBrk="1" fontAlgn="base" latinLnBrk="0" hangingPunct="0">
              <a:lnSpc>
                <a:spcPct val="100000"/>
              </a:lnSpc>
              <a:spcBef>
                <a:spcPts val="42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Helvetica Neue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95350" y="2925763"/>
            <a:ext cx="4194175" cy="5421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>
          <a:xfrm>
            <a:off x="6327775" y="9296400"/>
            <a:ext cx="339725" cy="323850"/>
          </a:xfrm>
          <a:prstGeom prst="rect">
            <a:avLst/>
          </a:prstGeom>
        </p:spPr>
        <p:txBody>
          <a:bodyPr/>
          <a:lstStyle/>
          <a:p>
            <a:pPr lvl="0" eaLnBrk="1"/>
            <a:fld id="{9A0DB2DC-4C9A-4742-B13C-FB6460FD3503}" type="slidenum">
              <a:rPr lang="zh-CN" altLang="zh-CN">
                <a:cs typeface="Helvetica Neue Light" charset="0"/>
                <a:sym typeface="Helvetica Neue Light" charset="0"/>
              </a:rPr>
            </a:fld>
            <a:endParaRPr lang="zh-CN" altLang="zh-CN">
              <a:latin typeface="Helvetica Neue" charset="0"/>
              <a:cs typeface="Helvetica Neue Light" charset="0"/>
              <a:sym typeface="Helvetica Neue Light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4725" y="3028950"/>
            <a:ext cx="11053763" cy="20907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1949450" y="5526088"/>
            <a:ext cx="9104313" cy="24923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6327775" y="9296400"/>
            <a:ext cx="339725" cy="323850"/>
          </a:xfrm>
          <a:prstGeom prst="rect">
            <a:avLst/>
          </a:prstGeom>
        </p:spPr>
        <p:txBody>
          <a:bodyPr/>
          <a:lstStyle/>
          <a:p>
            <a:pPr lvl="0" eaLnBrk="1"/>
            <a:fld id="{9A0DB2DC-4C9A-4742-B13C-FB6460FD3503}" type="slidenum">
              <a:rPr lang="zh-CN" altLang="zh-CN">
                <a:cs typeface="Helvetica Neue Light" charset="0"/>
                <a:sym typeface="Helvetica Neue Light" charset="0"/>
              </a:rPr>
            </a:fld>
            <a:endParaRPr lang="zh-CN" altLang="zh-CN">
              <a:latin typeface="Helvetica Neue" charset="0"/>
              <a:cs typeface="Helvetica Neue Light" charset="0"/>
              <a:sym typeface="Helvetica Neue Light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66238" y="3028950"/>
            <a:ext cx="2762250" cy="4989513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974725" y="3028950"/>
            <a:ext cx="8139113" cy="498951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6327775" y="9296400"/>
            <a:ext cx="339725" cy="323850"/>
          </a:xfrm>
          <a:prstGeom prst="rect">
            <a:avLst/>
          </a:prstGeom>
        </p:spPr>
        <p:txBody>
          <a:bodyPr/>
          <a:lstStyle/>
          <a:p>
            <a:pPr lvl="0" eaLnBrk="1"/>
            <a:fld id="{9A0DB2DC-4C9A-4742-B13C-FB6460FD3503}" type="slidenum">
              <a:rPr lang="zh-CN" altLang="zh-CN">
                <a:cs typeface="Helvetica Neue Light" charset="0"/>
                <a:sym typeface="Helvetica Neue Light" charset="0"/>
              </a:rPr>
            </a:fld>
            <a:endParaRPr lang="zh-CN" altLang="zh-CN">
              <a:latin typeface="Helvetica Neue" charset="0"/>
              <a:cs typeface="Helvetica Neue Light" charset="0"/>
              <a:sym typeface="Helvetica Neue Light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/>
            <a:fld id="{9A0DB2DC-4C9A-4742-B13C-FB6460FD3503}" type="slidenum">
              <a:rPr lang="zh-CN" altLang="zh-CN">
                <a:cs typeface="Helvetica Neue Light" charset="0"/>
                <a:sym typeface="Helvetica Neue Light" charset="0"/>
              </a:rPr>
            </a:fld>
            <a:endParaRPr lang="zh-CN" altLang="zh-CN">
              <a:latin typeface="Helvetica Neue" charset="0"/>
              <a:cs typeface="Helvetica Neue Light" charset="0"/>
              <a:sym typeface="Helvetica Neue Light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25600" y="1597025"/>
            <a:ext cx="9753600" cy="33956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25600" y="5122863"/>
            <a:ext cx="9753600" cy="23542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/>
            <a:fld id="{9A0DB2DC-4C9A-4742-B13C-FB6460FD3503}" type="slidenum">
              <a:rPr lang="zh-CN" altLang="zh-CN">
                <a:cs typeface="Helvetica Neue Light" charset="0"/>
                <a:sym typeface="Helvetica Neue Light" charset="0"/>
              </a:rPr>
            </a:fld>
            <a:endParaRPr lang="zh-CN" altLang="zh-CN">
              <a:latin typeface="Helvetica Neue" charset="0"/>
              <a:cs typeface="Helvetica Neue Light" charset="0"/>
              <a:sym typeface="Helvetica Neue Light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/>
            <a:fld id="{9A0DB2DC-4C9A-4742-B13C-FB6460FD3503}" type="slidenum">
              <a:rPr lang="zh-CN" altLang="zh-CN">
                <a:cs typeface="Helvetica Neue Light" charset="0"/>
                <a:sym typeface="Helvetica Neue Light" charset="0"/>
              </a:rPr>
            </a:fld>
            <a:endParaRPr lang="zh-CN" altLang="zh-CN">
              <a:latin typeface="Helvetica Neue" charset="0"/>
              <a:cs typeface="Helvetica Neue Light" charset="0"/>
              <a:sym typeface="Helvetica Neue Light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7413" y="2432050"/>
            <a:ext cx="11217275" cy="405606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7413" y="6527800"/>
            <a:ext cx="11217275" cy="213360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/>
            <a:fld id="{9A0DB2DC-4C9A-4742-B13C-FB6460FD3503}" type="slidenum">
              <a:rPr lang="zh-CN" altLang="zh-CN">
                <a:cs typeface="Helvetica Neue Light" charset="0"/>
                <a:sym typeface="Helvetica Neue Light" charset="0"/>
              </a:rPr>
            </a:fld>
            <a:endParaRPr lang="zh-CN" altLang="zh-CN">
              <a:latin typeface="Helvetica Neue" charset="0"/>
              <a:cs typeface="Helvetica Neue Light" charset="0"/>
              <a:sym typeface="Helvetica Neue Light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949450" y="5526088"/>
            <a:ext cx="4475163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77013" y="5526088"/>
            <a:ext cx="447675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/>
            <a:fld id="{9A0DB2DC-4C9A-4742-B13C-FB6460FD3503}" type="slidenum">
              <a:rPr lang="zh-CN" altLang="zh-CN">
                <a:cs typeface="Helvetica Neue Light" charset="0"/>
                <a:sym typeface="Helvetica Neue Light" charset="0"/>
              </a:rPr>
            </a:fld>
            <a:endParaRPr lang="zh-CN" altLang="zh-CN">
              <a:latin typeface="Helvetica Neue" charset="0"/>
              <a:cs typeface="Helvetica Neue Light" charset="0"/>
              <a:sym typeface="Helvetica Neue Light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5350" y="519113"/>
            <a:ext cx="11217275" cy="18859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5350" y="2390775"/>
            <a:ext cx="5502275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5350" y="3562350"/>
            <a:ext cx="5502275" cy="5240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83363" y="2390775"/>
            <a:ext cx="5529262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83363" y="3562350"/>
            <a:ext cx="5529262" cy="5240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/>
            <a:fld id="{9A0DB2DC-4C9A-4742-B13C-FB6460FD3503}" type="slidenum">
              <a:rPr lang="zh-CN" altLang="zh-CN">
                <a:cs typeface="Helvetica Neue Light" charset="0"/>
                <a:sym typeface="Helvetica Neue Light" charset="0"/>
              </a:rPr>
            </a:fld>
            <a:endParaRPr lang="zh-CN" altLang="zh-CN">
              <a:latin typeface="Helvetica Neue" charset="0"/>
              <a:cs typeface="Helvetica Neue Light" charset="0"/>
              <a:sym typeface="Helvetica Neue Light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/>
            <a:fld id="{9A0DB2DC-4C9A-4742-B13C-FB6460FD3503}" type="slidenum">
              <a:rPr lang="zh-CN" altLang="zh-CN">
                <a:cs typeface="Helvetica Neue Light" charset="0"/>
                <a:sym typeface="Helvetica Neue Light" charset="0"/>
              </a:rPr>
            </a:fld>
            <a:endParaRPr lang="zh-CN" altLang="zh-CN">
              <a:latin typeface="Helvetica Neue" charset="0"/>
              <a:cs typeface="Helvetica Neue Light" charset="0"/>
              <a:sym typeface="Helvetica Neue Light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/>
            <a:fld id="{9A0DB2DC-4C9A-4742-B13C-FB6460FD3503}" type="slidenum">
              <a:rPr lang="zh-CN" altLang="zh-CN">
                <a:cs typeface="Helvetica Neue Light" charset="0"/>
                <a:sym typeface="Helvetica Neue Light" charset="0"/>
              </a:rPr>
            </a:fld>
            <a:endParaRPr lang="zh-CN" altLang="zh-CN">
              <a:latin typeface="Helvetica Neue" charset="0"/>
              <a:cs typeface="Helvetica Neue Light" charset="0"/>
              <a:sym typeface="Helvetica Neue Light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5350" y="650875"/>
            <a:ext cx="4194175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29263" y="1404938"/>
            <a:ext cx="6583362" cy="6931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95350" y="2925763"/>
            <a:ext cx="4194175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/>
            <a:fld id="{9A0DB2DC-4C9A-4742-B13C-FB6460FD3503}" type="slidenum">
              <a:rPr lang="zh-CN" altLang="zh-CN">
                <a:cs typeface="Helvetica Neue Light" charset="0"/>
                <a:sym typeface="Helvetica Neue Light" charset="0"/>
              </a:rPr>
            </a:fld>
            <a:endParaRPr lang="zh-CN" altLang="zh-CN">
              <a:latin typeface="Helvetica Neue" charset="0"/>
              <a:cs typeface="Helvetica Neue Light" charset="0"/>
              <a:sym typeface="Helvetica Neue Light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5350" y="650875"/>
            <a:ext cx="4194175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529263" y="1404938"/>
            <a:ext cx="6583362" cy="6931025"/>
          </a:xfrm>
        </p:spPr>
        <p:txBody>
          <a:bodyPr vert="horz" wrap="square" lIns="50800" tIns="50800" rIns="50800" bIns="50800" numCol="1" anchor="ctr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584200" rtl="0" eaLnBrk="1" fontAlgn="base" latinLnBrk="0" hangingPunct="0">
              <a:lnSpc>
                <a:spcPct val="100000"/>
              </a:lnSpc>
              <a:spcBef>
                <a:spcPts val="42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Helvetica Neue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95350" y="2925763"/>
            <a:ext cx="4194175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/>
            <a:fld id="{9A0DB2DC-4C9A-4742-B13C-FB6460FD3503}" type="slidenum">
              <a:rPr lang="zh-CN" altLang="zh-CN">
                <a:cs typeface="Helvetica Neue Light" charset="0"/>
                <a:sym typeface="Helvetica Neue Light" charset="0"/>
              </a:rPr>
            </a:fld>
            <a:endParaRPr lang="zh-CN" altLang="zh-CN">
              <a:latin typeface="Helvetica Neue" charset="0"/>
              <a:cs typeface="Helvetica Neue Light" charset="0"/>
              <a:sym typeface="Helvetica Neue Light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/>
            <a:fld id="{9A0DB2DC-4C9A-4742-B13C-FB6460FD3503}" type="slidenum">
              <a:rPr lang="zh-CN" altLang="zh-CN">
                <a:cs typeface="Helvetica Neue Light" charset="0"/>
                <a:sym typeface="Helvetica Neue Light" charset="0"/>
              </a:rPr>
            </a:fld>
            <a:endParaRPr lang="zh-CN" altLang="zh-CN">
              <a:latin typeface="Helvetica Neue" charset="0"/>
              <a:cs typeface="Helvetica Neue Light" charset="0"/>
              <a:sym typeface="Helvetica Neue Light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66238" y="3028950"/>
            <a:ext cx="2762250" cy="49895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974725" y="3028950"/>
            <a:ext cx="8139113" cy="49895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/>
            <a:fld id="{9A0DB2DC-4C9A-4742-B13C-FB6460FD3503}" type="slidenum">
              <a:rPr lang="zh-CN" altLang="zh-CN">
                <a:cs typeface="Helvetica Neue Light" charset="0"/>
                <a:sym typeface="Helvetica Neue Light" charset="0"/>
              </a:rPr>
            </a:fld>
            <a:endParaRPr lang="zh-CN" altLang="zh-CN">
              <a:latin typeface="Helvetica Neue" charset="0"/>
              <a:cs typeface="Helvetica Neue Light" charset="0"/>
              <a:sym typeface="Helvetica Neue Light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25600" y="1597025"/>
            <a:ext cx="9753600" cy="33956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25600" y="5122863"/>
            <a:ext cx="9753600" cy="23542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763C-1AC0-48A3-B6FE-4884967142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1C295-0BCA-4519-BC8E-2BEADCB883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763C-1AC0-48A3-B6FE-4884967142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1C295-0BCA-4519-BC8E-2BEADCB883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7413" y="2432050"/>
            <a:ext cx="11217275" cy="405606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7413" y="6527800"/>
            <a:ext cx="11217275" cy="21336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763C-1AC0-48A3-B6FE-4884967142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1C295-0BCA-4519-BC8E-2BEADCB883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3763" y="2597150"/>
            <a:ext cx="5532437" cy="61880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78600" y="2597150"/>
            <a:ext cx="5532438" cy="61880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763C-1AC0-48A3-B6FE-4884967142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1C295-0BCA-4519-BC8E-2BEADCB883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5350" y="519113"/>
            <a:ext cx="11217275" cy="18859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5350" y="2390775"/>
            <a:ext cx="5502275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5350" y="3562350"/>
            <a:ext cx="5502275" cy="5240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83363" y="2390775"/>
            <a:ext cx="5529262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83363" y="3562350"/>
            <a:ext cx="5529262" cy="5240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763C-1AC0-48A3-B6FE-4884967142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1C295-0BCA-4519-BC8E-2BEADCB883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763C-1AC0-48A3-B6FE-4884967142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1C295-0BCA-4519-BC8E-2BEADCB883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763C-1AC0-48A3-B6FE-4884967142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1C295-0BCA-4519-BC8E-2BEADCB883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763C-1AC0-48A3-B6FE-4884967142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1C295-0BCA-4519-BC8E-2BEADCB883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5350" y="650875"/>
            <a:ext cx="4194175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29263" y="1404938"/>
            <a:ext cx="6583362" cy="6931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95350" y="2925763"/>
            <a:ext cx="4194175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763C-1AC0-48A3-B6FE-4884967142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1C295-0BCA-4519-BC8E-2BEADCB883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5350" y="650875"/>
            <a:ext cx="4194175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529263" y="1404938"/>
            <a:ext cx="6583362" cy="69310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95350" y="2925763"/>
            <a:ext cx="4194175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763C-1AC0-48A3-B6FE-4884967142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1C295-0BCA-4519-BC8E-2BEADCB883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763C-1AC0-48A3-B6FE-4884967142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1C295-0BCA-4519-BC8E-2BEADCB883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07513" y="519113"/>
            <a:ext cx="2803525" cy="8266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3763" y="519113"/>
            <a:ext cx="8261350" cy="8266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763C-1AC0-48A3-B6FE-4884967142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1C295-0BCA-4519-BC8E-2BEADCB883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763C-1AC0-48A3-B6FE-4884967142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1C295-0BCA-4519-BC8E-2BEADCB883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4" Type="http://schemas.openxmlformats.org/officeDocument/2006/relationships/theme" Target="../theme/theme3.xml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pt文件-02-11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-29845" y="-15875"/>
            <a:ext cx="13065760" cy="978662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584200" rtl="0" fontAlgn="base" hangingPunct="0">
        <a:spcBef>
          <a:spcPct val="0"/>
        </a:spcBef>
        <a:spcAft>
          <a:spcPct val="0"/>
        </a:spcAft>
        <a:defRPr sz="8000" kern="1200">
          <a:solidFill>
            <a:srgbClr val="000000"/>
          </a:solidFill>
          <a:latin typeface="+mj-lt"/>
          <a:ea typeface="+mj-ea"/>
          <a:cs typeface="+mj-cs"/>
          <a:sym typeface="Helvetica Neue Medium" charset="0"/>
        </a:defRPr>
      </a:lvl1pPr>
      <a:lvl2pPr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2pPr>
      <a:lvl3pPr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3pPr>
      <a:lvl4pPr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4pPr>
      <a:lvl5pPr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5pPr>
      <a:lvl6pPr marL="4572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6pPr>
      <a:lvl7pPr marL="9144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7pPr>
      <a:lvl8pPr marL="13716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8pPr>
      <a:lvl9pPr marL="18288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9pPr>
    </p:titleStyle>
    <p:bodyStyle>
      <a:lvl1pPr algn="ctr" defTabSz="584200" rtl="0" fontAlgn="base" hangingPunct="0">
        <a:spcBef>
          <a:spcPts val="4200"/>
        </a:spcBef>
        <a:spcAft>
          <a:spcPct val="0"/>
        </a:spcAft>
        <a:defRPr sz="3200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indent="444500" algn="ctr" defTabSz="584200" rtl="0" fontAlgn="base" hangingPunct="0">
        <a:spcBef>
          <a:spcPts val="4200"/>
        </a:spcBef>
        <a:spcAft>
          <a:spcPct val="0"/>
        </a:spcAft>
        <a:defRPr sz="3200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indent="889000" algn="ctr" defTabSz="584200" rtl="0" fontAlgn="base" hangingPunct="0">
        <a:spcBef>
          <a:spcPts val="4200"/>
        </a:spcBef>
        <a:spcAft>
          <a:spcPct val="0"/>
        </a:spcAft>
        <a:defRPr sz="3200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indent="1333500" algn="ctr" defTabSz="584200" rtl="0" fontAlgn="base" hangingPunct="0">
        <a:spcBef>
          <a:spcPts val="4200"/>
        </a:spcBef>
        <a:spcAft>
          <a:spcPct val="0"/>
        </a:spcAft>
        <a:defRPr sz="3200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indent="1778000" algn="ctr" defTabSz="584200" rtl="0" fontAlgn="base" hangingPunct="0">
        <a:spcBef>
          <a:spcPts val="4200"/>
        </a:spcBef>
        <a:spcAft>
          <a:spcPct val="0"/>
        </a:spcAft>
        <a:defRPr sz="3200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/>
          </p:cNvSpPr>
          <p:nvPr>
            <p:ph type="title"/>
          </p:nvPr>
        </p:nvSpPr>
        <p:spPr bwMode="auto">
          <a:xfrm>
            <a:off x="974725" y="3028950"/>
            <a:ext cx="11053763" cy="209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zh-CN" altLang="zh-CN">
                <a:sym typeface="Helvetica Neue Medium" charset="0"/>
              </a:rPr>
              <a:t>Click to edit Master title style</a:t>
            </a:r>
            <a:endParaRPr lang="zh-CN" altLang="zh-CN">
              <a:sym typeface="Helvetica Neue Medium" charset="0"/>
            </a:endParaRPr>
          </a:p>
        </p:txBody>
      </p:sp>
      <p:sp>
        <p:nvSpPr>
          <p:cNvPr id="1026" name="Rectangle 2"/>
          <p:cNvSpPr>
            <a:spLocks noGrp="1"/>
          </p:cNvSpPr>
          <p:nvPr>
            <p:ph type="body" idx="1"/>
          </p:nvPr>
        </p:nvSpPr>
        <p:spPr bwMode="auto">
          <a:xfrm>
            <a:off x="1949450" y="5526088"/>
            <a:ext cx="9104313" cy="2492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zh-CN" altLang="zh-CN">
                <a:sym typeface="Helvetica Neue" charset="0"/>
              </a:rPr>
              <a:t>Click to edit Master text styles</a:t>
            </a:r>
            <a:endParaRPr lang="zh-CN" altLang="zh-CN">
              <a:sym typeface="Helvetica Neue" charset="0"/>
            </a:endParaRPr>
          </a:p>
          <a:p>
            <a:pPr lvl="1"/>
            <a:r>
              <a:rPr lang="zh-CN" altLang="zh-CN">
                <a:sym typeface="Helvetica Neue" charset="0"/>
              </a:rPr>
              <a:t>Second level</a:t>
            </a:r>
            <a:endParaRPr lang="zh-CN" altLang="zh-CN">
              <a:sym typeface="Helvetica Neue" charset="0"/>
            </a:endParaRPr>
          </a:p>
          <a:p>
            <a:pPr lvl="2"/>
            <a:r>
              <a:rPr lang="zh-CN" altLang="zh-CN">
                <a:sym typeface="Helvetica Neue" charset="0"/>
              </a:rPr>
              <a:t>Third level</a:t>
            </a:r>
            <a:endParaRPr lang="zh-CN" altLang="zh-CN">
              <a:sym typeface="Helvetica Neue" charset="0"/>
            </a:endParaRPr>
          </a:p>
          <a:p>
            <a:pPr lvl="3"/>
            <a:r>
              <a:rPr lang="zh-CN" altLang="zh-CN">
                <a:sym typeface="Helvetica Neue" charset="0"/>
              </a:rPr>
              <a:t>Fourth level</a:t>
            </a:r>
            <a:endParaRPr lang="zh-CN" altLang="zh-CN">
              <a:sym typeface="Helvetica Neue" charset="0"/>
            </a:endParaRPr>
          </a:p>
          <a:p>
            <a:pPr lvl="4"/>
            <a:r>
              <a:rPr lang="zh-CN" altLang="zh-CN">
                <a:sym typeface="Helvetica Neue" charset="0"/>
              </a:rPr>
              <a:t>Fifth level</a:t>
            </a:r>
            <a:endParaRPr lang="zh-CN" altLang="zh-CN">
              <a:sym typeface="Helvetica Neue" charset="0"/>
            </a:endParaRPr>
          </a:p>
        </p:txBody>
      </p:sp>
      <p:sp>
        <p:nvSpPr>
          <p:cNvPr id="1027" name="Rectangle 3"/>
          <p:cNvSpPr>
            <a:spLocks noGrp="1"/>
          </p:cNvSpPr>
          <p:nvPr>
            <p:ph type="sldNum" sz="quarter" idx="2"/>
          </p:nvPr>
        </p:nvSpPr>
        <p:spPr bwMode="auto">
          <a:xfrm>
            <a:off x="6327775" y="9296400"/>
            <a:ext cx="33972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none" lIns="50800" tIns="50800" rIns="50800" bIns="50800" numCol="1" anchor="t" anchorCtr="0" compatLnSpc="1"/>
          <a:lstStyle>
            <a:lvl1pPr>
              <a:defRPr sz="1600" b="0">
                <a:latin typeface="Helvetica Neue Light" charset="0"/>
              </a:defRPr>
            </a:lvl1pPr>
          </a:lstStyle>
          <a:p>
            <a:pPr lvl="0" eaLnBrk="1"/>
            <a:fld id="{9A0DB2DC-4C9A-4742-B13C-FB6460FD3503}" type="slidenum">
              <a:rPr lang="zh-CN" altLang="zh-CN">
                <a:cs typeface="Helvetica Neue Light" charset="0"/>
                <a:sym typeface="Helvetica Neue Light" charset="0"/>
              </a:rPr>
            </a:fld>
            <a:endParaRPr lang="zh-CN" altLang="zh-CN">
              <a:latin typeface="Helvetica Neue" charset="0"/>
              <a:cs typeface="Helvetica Neue Light" charset="0"/>
              <a:sym typeface="Helvetica Neue Light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ctr" defTabSz="584200" rtl="0" fontAlgn="base" hangingPunct="0">
        <a:spcBef>
          <a:spcPct val="0"/>
        </a:spcBef>
        <a:spcAft>
          <a:spcPct val="0"/>
        </a:spcAft>
        <a:defRPr sz="8000" kern="1200">
          <a:solidFill>
            <a:srgbClr val="000000"/>
          </a:solidFill>
          <a:latin typeface="+mj-lt"/>
          <a:ea typeface="+mj-ea"/>
          <a:cs typeface="+mj-cs"/>
          <a:sym typeface="Helvetica Neue Medium" charset="0"/>
        </a:defRPr>
      </a:lvl1pPr>
      <a:lvl2pPr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2pPr>
      <a:lvl3pPr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3pPr>
      <a:lvl4pPr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4pPr>
      <a:lvl5pPr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5pPr>
      <a:lvl6pPr marL="4572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6pPr>
      <a:lvl7pPr marL="9144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7pPr>
      <a:lvl8pPr marL="13716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8pPr>
      <a:lvl9pPr marL="18288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9pPr>
    </p:titleStyle>
    <p:bodyStyle>
      <a:lvl1pPr algn="ctr" defTabSz="584200" rtl="0" fontAlgn="base" hangingPunct="0">
        <a:spcBef>
          <a:spcPts val="4200"/>
        </a:spcBef>
        <a:spcAft>
          <a:spcPct val="0"/>
        </a:spcAft>
        <a:defRPr sz="3200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indent="444500" algn="ctr" defTabSz="584200" rtl="0" fontAlgn="base" hangingPunct="0">
        <a:spcBef>
          <a:spcPts val="4200"/>
        </a:spcBef>
        <a:spcAft>
          <a:spcPct val="0"/>
        </a:spcAft>
        <a:defRPr sz="3200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indent="889000" algn="ctr" defTabSz="584200" rtl="0" fontAlgn="base" hangingPunct="0">
        <a:spcBef>
          <a:spcPts val="4200"/>
        </a:spcBef>
        <a:spcAft>
          <a:spcPct val="0"/>
        </a:spcAft>
        <a:defRPr sz="3200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indent="1333500" algn="ctr" defTabSz="584200" rtl="0" fontAlgn="base" hangingPunct="0">
        <a:spcBef>
          <a:spcPts val="4200"/>
        </a:spcBef>
        <a:spcAft>
          <a:spcPct val="0"/>
        </a:spcAft>
        <a:defRPr sz="3200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indent="1778000" algn="ctr" defTabSz="584200" rtl="0" fontAlgn="base" hangingPunct="0">
        <a:spcBef>
          <a:spcPts val="4200"/>
        </a:spcBef>
        <a:spcAft>
          <a:spcPct val="0"/>
        </a:spcAft>
        <a:defRPr sz="3200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93763" y="519113"/>
            <a:ext cx="11217275" cy="1885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3763" y="2597150"/>
            <a:ext cx="11217275" cy="6188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93763" y="9040813"/>
            <a:ext cx="2925762" cy="519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6763C-1AC0-48A3-B6FE-4884967142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308475" y="9040813"/>
            <a:ext cx="4387850" cy="519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185275" y="9040813"/>
            <a:ext cx="2925763" cy="519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1C295-0BCA-4519-BC8E-2BEADCB8830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18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ppt文件-02-1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-29210" y="-15875"/>
            <a:ext cx="13034010" cy="9770745"/>
          </a:xfrm>
          <a:prstGeom prst="rect">
            <a:avLst/>
          </a:prstGeom>
        </p:spPr>
      </p:pic>
      <p:sp>
        <p:nvSpPr>
          <p:cNvPr id="4" name="圆角矩形 4"/>
          <p:cNvSpPr/>
          <p:nvPr/>
        </p:nvSpPr>
        <p:spPr bwMode="auto">
          <a:xfrm>
            <a:off x="781050" y="2417921"/>
            <a:ext cx="11384280" cy="1135063"/>
          </a:xfrm>
          <a:prstGeom prst="roundRect">
            <a:avLst/>
          </a:prstGeom>
          <a:solidFill>
            <a:srgbClr val="00B050">
              <a:alpha val="4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50800" tIns="50800" rIns="50800" bIns="50800" numCol="1" rtlCol="0" anchor="ctr" anchorCtr="0" compatLnSpc="1"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6000" i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  <a:latin typeface="+mj-ea"/>
                <a:ea typeface="+mj-ea"/>
                <a:cs typeface="Helvetica Neue" charset="0"/>
                <a:sym typeface="Helvetica Neue" charset="0"/>
              </a:rPr>
              <a:t>第六讲 可调分组密码算法实现</a:t>
            </a:r>
            <a:endParaRPr kumimoji="0" lang="zh-CN" altLang="en-US" sz="6000" i="0" u="none" strike="noStrike" cap="none" normalizeH="0" baseline="0" dirty="0">
              <a:ln>
                <a:noFill/>
              </a:ln>
              <a:solidFill>
                <a:srgbClr val="006600"/>
              </a:solidFill>
              <a:effectLst/>
              <a:latin typeface="+mj-ea"/>
              <a:ea typeface="+mj-ea"/>
              <a:cs typeface="Helvetica Neue" charset="0"/>
              <a:sym typeface="Helvetica Neue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205941" y="5236840"/>
            <a:ext cx="4592924" cy="23238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latin typeface="+mn-ea"/>
                <a:ea typeface="+mn-ea"/>
              </a:rPr>
              <a:t>主讲人 陈思维</a:t>
            </a:r>
            <a:endParaRPr lang="en-US" altLang="zh-CN" sz="3600" dirty="0">
              <a:latin typeface="+mn-ea"/>
              <a:ea typeface="+mn-ea"/>
            </a:endParaRPr>
          </a:p>
          <a:p>
            <a:pPr algn="ctr">
              <a:lnSpc>
                <a:spcPct val="150000"/>
              </a:lnSpc>
            </a:pPr>
            <a:endParaRPr lang="en-US" altLang="zh-CN" sz="3600" dirty="0">
              <a:latin typeface="+mn-ea"/>
              <a:ea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dirty="0">
                <a:latin typeface="+mn-ea"/>
                <a:ea typeface="+mn-ea"/>
              </a:rPr>
              <a:t>湖北大学 网络空间安全学院</a:t>
            </a:r>
            <a:endParaRPr lang="en-US" altLang="zh-CN" sz="2800" dirty="0">
              <a:latin typeface="+mn-ea"/>
              <a:ea typeface="+mn-ea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0" y="1420416"/>
            <a:ext cx="13004800" cy="360040"/>
          </a:xfrm>
          <a:prstGeom prst="rect">
            <a:avLst/>
          </a:prstGeom>
          <a:solidFill>
            <a:srgbClr val="008000"/>
          </a:solidFill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50800" tIns="50800" rIns="50800" bIns="50800" numCol="1" rtlCol="0" anchor="ctr" anchorCtr="0" compatLnSpc="1"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3685" y="2068831"/>
            <a:ext cx="12126595" cy="705644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rgbClr val="350FF1"/>
                </a:solidFill>
              </a:rPr>
              <a:t>可调密码算法</a:t>
            </a:r>
            <a:r>
              <a:rPr lang="zh-CN" altLang="en-US" sz="3600" dirty="0">
                <a:solidFill>
                  <a:srgbClr val="350FF1"/>
                </a:solidFill>
              </a:rPr>
              <a:t>：</a:t>
            </a:r>
            <a:r>
              <a:rPr lang="zh-CN" altLang="en-US" sz="32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在加密算法中加入</a:t>
            </a:r>
            <a:r>
              <a:rPr lang="zh-CN" altLang="en-US" sz="3200" dirty="0">
                <a:solidFill>
                  <a:srgbClr val="FF0000"/>
                </a:solidFill>
              </a:rPr>
              <a:t>可变参数</a:t>
            </a:r>
            <a:r>
              <a:rPr lang="zh-CN" altLang="en-US" sz="32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，这些参数会影响加密过程的</a:t>
            </a:r>
            <a:r>
              <a:rPr lang="zh-CN" altLang="en-US" sz="3200" dirty="0">
                <a:solidFill>
                  <a:srgbClr val="FF0000"/>
                </a:solidFill>
              </a:rPr>
              <a:t>具体行为</a:t>
            </a:r>
            <a:r>
              <a:rPr lang="zh-CN" altLang="en-US" sz="32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，确保加密过程更加</a:t>
            </a:r>
            <a:r>
              <a:rPr lang="zh-CN" altLang="en-US" sz="3200" dirty="0">
                <a:solidFill>
                  <a:srgbClr val="FF0000"/>
                </a:solidFill>
              </a:rPr>
              <a:t>安全</a:t>
            </a:r>
            <a:r>
              <a:rPr lang="zh-CN" altLang="en-US" sz="3200" b="0" dirty="0">
                <a:solidFill>
                  <a:srgbClr val="FF0000"/>
                </a:solidFill>
              </a:rPr>
              <a:t>、</a:t>
            </a:r>
            <a:r>
              <a:rPr lang="zh-CN" altLang="en-US" sz="3200" dirty="0">
                <a:solidFill>
                  <a:srgbClr val="FF0000"/>
                </a:solidFill>
              </a:rPr>
              <a:t>灵活</a:t>
            </a:r>
            <a:r>
              <a:rPr lang="zh-CN" altLang="en-US" sz="32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。</a:t>
            </a:r>
            <a:endParaRPr lang="en-US" altLang="zh-CN" sz="3200" b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just">
              <a:lnSpc>
                <a:spcPct val="150000"/>
              </a:lnSpc>
              <a:spcBef>
                <a:spcPts val="2400"/>
              </a:spcBef>
              <a:buFont typeface="Wingdings" panose="05000000000000000000" pitchFamily="2" charset="2"/>
              <a:buChar char="Ø"/>
            </a:pPr>
            <a:r>
              <a:rPr lang="zh-CN" altLang="en-US" sz="32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第一个</a:t>
            </a:r>
            <a:r>
              <a:rPr lang="zh-CN" altLang="en-US" sz="3200" dirty="0">
                <a:solidFill>
                  <a:srgbClr val="350FF1"/>
                </a:solidFill>
              </a:rPr>
              <a:t>可调分组密码</a:t>
            </a:r>
            <a:r>
              <a:rPr lang="en-US" altLang="zh-CN" sz="32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Hasty Pudding</a:t>
            </a:r>
            <a:r>
              <a:rPr lang="zh-CN" altLang="en-US" sz="32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，诞生于</a:t>
            </a:r>
            <a:r>
              <a:rPr lang="en-US" altLang="zh-CN" sz="32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AES</a:t>
            </a:r>
            <a:r>
              <a:rPr lang="zh-CN" altLang="en-US" sz="32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征集活动中，由</a:t>
            </a:r>
            <a:r>
              <a:rPr lang="en-US" altLang="zh-CN" sz="32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Rich </a:t>
            </a:r>
            <a:r>
              <a:rPr lang="en-US" altLang="zh-CN" sz="3200" b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Schroeppel</a:t>
            </a:r>
            <a:r>
              <a:rPr lang="zh-CN" altLang="en-US" sz="32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设计，允许用户添加一个被称为“</a:t>
            </a:r>
            <a:r>
              <a:rPr lang="en-US" altLang="zh-CN" sz="32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spice”</a:t>
            </a:r>
            <a:r>
              <a:rPr lang="zh-CN" altLang="en-US" sz="32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的</a:t>
            </a:r>
            <a:r>
              <a:rPr lang="zh-CN" altLang="en-US" sz="3200" dirty="0">
                <a:solidFill>
                  <a:srgbClr val="FF0000"/>
                </a:solidFill>
              </a:rPr>
              <a:t>非密钥参数</a:t>
            </a:r>
            <a:r>
              <a:rPr lang="zh-CN" altLang="en-US" sz="3200" b="0" dirty="0">
                <a:solidFill>
                  <a:schemeClr val="tx1"/>
                </a:solidFill>
              </a:rPr>
              <a:t>，参与加密过程</a:t>
            </a:r>
            <a:r>
              <a:rPr lang="zh-CN" altLang="en-US" sz="32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。</a:t>
            </a:r>
            <a:endParaRPr lang="en-US" altLang="zh-CN" sz="3200" b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just">
              <a:lnSpc>
                <a:spcPct val="150000"/>
              </a:lnSpc>
              <a:spcBef>
                <a:spcPts val="2400"/>
              </a:spcBef>
              <a:buFont typeface="Wingdings" panose="05000000000000000000" pitchFamily="2" charset="2"/>
              <a:buChar char="Ø"/>
            </a:pPr>
            <a:r>
              <a:rPr lang="en-US" altLang="zh-CN" sz="32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2002</a:t>
            </a:r>
            <a:r>
              <a:rPr lang="zh-CN" altLang="en-US" sz="32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年，</a:t>
            </a:r>
            <a:r>
              <a:rPr lang="en-US" altLang="zh-CN" sz="3200" b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Liskov</a:t>
            </a:r>
            <a:r>
              <a:rPr lang="zh-CN" altLang="en-US" sz="32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等人正式定义</a:t>
            </a:r>
            <a:r>
              <a:rPr lang="zh-CN" altLang="en-US" sz="3200" dirty="0">
                <a:solidFill>
                  <a:srgbClr val="350FF1"/>
                </a:solidFill>
              </a:rPr>
              <a:t>可调分组密码（</a:t>
            </a:r>
            <a:r>
              <a:rPr lang="en-US" altLang="zh-CN" sz="3200" dirty="0">
                <a:solidFill>
                  <a:srgbClr val="350FF1"/>
                </a:solidFill>
              </a:rPr>
              <a:t>tweakable block cipher</a:t>
            </a:r>
            <a:r>
              <a:rPr lang="zh-CN" altLang="en-US" sz="3200" dirty="0">
                <a:solidFill>
                  <a:srgbClr val="350FF1"/>
                </a:solidFill>
              </a:rPr>
              <a:t>）</a:t>
            </a:r>
            <a:r>
              <a:rPr lang="zh-CN" altLang="en-US" sz="32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的概念，将公开可变参数命名为</a:t>
            </a:r>
            <a:r>
              <a:rPr lang="zh-CN" altLang="en-US" sz="3200" dirty="0">
                <a:solidFill>
                  <a:srgbClr val="350FF1"/>
                </a:solidFill>
              </a:rPr>
              <a:t>“</a:t>
            </a:r>
            <a:r>
              <a:rPr lang="en-US" altLang="zh-CN" sz="3200" dirty="0">
                <a:solidFill>
                  <a:srgbClr val="350FF1"/>
                </a:solidFill>
              </a:rPr>
              <a:t>tweak”</a:t>
            </a:r>
            <a:r>
              <a:rPr lang="zh-CN" altLang="en-US" sz="3200" dirty="0">
                <a:solidFill>
                  <a:schemeClr val="tx1"/>
                </a:solidFill>
              </a:rPr>
              <a:t>，</a:t>
            </a:r>
            <a:r>
              <a:rPr lang="zh-CN" altLang="en-US" sz="3200" b="0" dirty="0">
                <a:solidFill>
                  <a:schemeClr val="tx1"/>
                </a:solidFill>
              </a:rPr>
              <a:t>译为</a:t>
            </a:r>
            <a:r>
              <a:rPr lang="zh-CN" altLang="en-US" sz="3200" dirty="0">
                <a:solidFill>
                  <a:schemeClr val="tx1"/>
                </a:solidFill>
              </a:rPr>
              <a:t>调柄</a:t>
            </a:r>
            <a:r>
              <a:rPr lang="zh-CN" altLang="en-US" sz="3200" b="0" dirty="0">
                <a:solidFill>
                  <a:schemeClr val="tx1"/>
                </a:solidFill>
              </a:rPr>
              <a:t>或</a:t>
            </a:r>
            <a:r>
              <a:rPr lang="zh-CN" altLang="en-US" sz="3200" dirty="0">
                <a:solidFill>
                  <a:schemeClr val="tx1"/>
                </a:solidFill>
              </a:rPr>
              <a:t>调密钥。</a:t>
            </a:r>
            <a:endParaRPr lang="en-US" altLang="zh-CN" sz="3200" dirty="0">
              <a:solidFill>
                <a:schemeClr val="tx1"/>
              </a:solidFill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sz="3200" b="0" dirty="0">
              <a:solidFill>
                <a:srgbClr val="350FF1"/>
              </a:solidFill>
            </a:endParaRP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 bwMode="auto">
          <a:xfrm>
            <a:off x="958215" y="412115"/>
            <a:ext cx="9662160" cy="720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b" anchorCtr="0" compatLnSpc="1"/>
          <a:lstStyle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6000" kern="120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 Neue Medium" charset="0"/>
              </a:defRPr>
            </a:lvl1pPr>
            <a:lvl2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2pPr>
            <a:lvl3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3pPr>
            <a:lvl4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4pPr>
            <a:lvl5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5pPr>
            <a:lvl6pPr marL="4572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6pPr>
            <a:lvl7pPr marL="9144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7pPr>
            <a:lvl8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8pPr>
            <a:lvl9pPr marL="18288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9pPr>
          </a:lstStyle>
          <a:p>
            <a:pPr algn="l" eaLnBrk="1">
              <a:defRPr/>
            </a:pPr>
            <a:r>
              <a:rPr lang="zh-CN" altLang="en-US" sz="5400" dirty="0">
                <a:solidFill>
                  <a:srgbClr val="008000"/>
                </a:solidFill>
                <a:latin typeface="+mj-ea"/>
              </a:rPr>
              <a:t>第六讲 </a:t>
            </a:r>
            <a:r>
              <a:rPr lang="zh-CN" altLang="en-US" sz="5400" dirty="0">
                <a:ln>
                  <a:noFill/>
                </a:ln>
                <a:solidFill>
                  <a:srgbClr val="006600"/>
                </a:solidFill>
                <a:effectLst/>
                <a:latin typeface="+mj-ea"/>
                <a:cs typeface="Helvetica Neue" charset="0"/>
                <a:sym typeface="Helvetica Neue" charset="0"/>
              </a:rPr>
              <a:t>可调分组密码算法</a:t>
            </a:r>
            <a:endParaRPr lang="zh-CN" altLang="zh-CN" sz="5400" dirty="0">
              <a:solidFill>
                <a:srgbClr val="008000"/>
              </a:solidFill>
              <a:latin typeface="+mj-ea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0" y="1420416"/>
            <a:ext cx="13004800" cy="360040"/>
          </a:xfrm>
          <a:prstGeom prst="rect">
            <a:avLst/>
          </a:prstGeom>
          <a:solidFill>
            <a:srgbClr val="008000"/>
          </a:solidFill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50800" tIns="50800" rIns="50800" bIns="50800" numCol="1" rtlCol="0" anchor="ctr" anchorCtr="0" compatLnSpc="1"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273685" y="2068831"/>
                <a:ext cx="5940683" cy="100776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457200" indent="-457200" algn="ju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3200" dirty="0">
                    <a:solidFill>
                      <a:srgbClr val="350FF1"/>
                    </a:solidFill>
                  </a:rPr>
                  <a:t>传统分组密码</a:t>
                </a:r>
                <a:r>
                  <a:rPr lang="zh-CN" altLang="en-US" sz="3600" dirty="0">
                    <a:solidFill>
                      <a:srgbClr val="350FF1"/>
                    </a:solidFill>
                  </a:rPr>
                  <a:t>：</a:t>
                </a:r>
                <a:endParaRPr lang="en-US" altLang="zh-CN" sz="3600" dirty="0">
                  <a:solidFill>
                    <a:srgbClr val="350FF1"/>
                  </a:solidFill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1" i="1" smtClean="0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lang="en-US" altLang="zh-CN" sz="3600" b="1" i="1" smtClean="0">
                              <a:solidFill>
                                <a:srgbClr val="350FF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600" b="1" i="1" smtClean="0">
                              <a:solidFill>
                                <a:srgbClr val="350FF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zh-CN" sz="3600" b="1" i="1" smtClean="0">
                              <a:solidFill>
                                <a:srgbClr val="350FF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600" b="1" i="1" smtClean="0">
                              <a:solidFill>
                                <a:srgbClr val="350FF1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</m:d>
                      <m:r>
                        <a:rPr lang="en-US" altLang="zh-CN" sz="3600" b="1" i="1" smtClean="0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600" b="1" i="1" smtClean="0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zh-CN" altLang="en-US" sz="3200" b="0" dirty="0">
                  <a:solidFill>
                    <a:srgbClr val="350FF1"/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685" y="2068831"/>
                <a:ext cx="5940683" cy="1007769"/>
              </a:xfrm>
              <a:prstGeom prst="rect">
                <a:avLst/>
              </a:prstGeom>
              <a:blipFill rotWithShape="1">
                <a:blip r:embed="rId1"/>
                <a:stretch>
                  <a:fillRect r="4" b="-678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1"/>
          <p:cNvSpPr txBox="1">
            <a:spLocks noChangeArrowheads="1"/>
          </p:cNvSpPr>
          <p:nvPr/>
        </p:nvSpPr>
        <p:spPr bwMode="auto">
          <a:xfrm>
            <a:off x="958215" y="412115"/>
            <a:ext cx="9662160" cy="720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b" anchorCtr="0" compatLnSpc="1"/>
          <a:lstStyle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6000" kern="120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 Neue Medium" charset="0"/>
              </a:defRPr>
            </a:lvl1pPr>
            <a:lvl2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2pPr>
            <a:lvl3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3pPr>
            <a:lvl4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4pPr>
            <a:lvl5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5pPr>
            <a:lvl6pPr marL="4572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6pPr>
            <a:lvl7pPr marL="9144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7pPr>
            <a:lvl8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8pPr>
            <a:lvl9pPr marL="18288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9pPr>
          </a:lstStyle>
          <a:p>
            <a:pPr algn="l" eaLnBrk="1">
              <a:defRPr/>
            </a:pPr>
            <a:r>
              <a:rPr lang="zh-CN" altLang="en-US" sz="5400" dirty="0">
                <a:solidFill>
                  <a:srgbClr val="008000"/>
                </a:solidFill>
                <a:latin typeface="+mj-ea"/>
              </a:rPr>
              <a:t>第六讲 </a:t>
            </a:r>
            <a:r>
              <a:rPr lang="zh-CN" altLang="en-US" sz="5400" dirty="0">
                <a:ln>
                  <a:noFill/>
                </a:ln>
                <a:solidFill>
                  <a:srgbClr val="006600"/>
                </a:solidFill>
                <a:effectLst/>
                <a:latin typeface="+mj-ea"/>
                <a:cs typeface="Helvetica Neue" charset="0"/>
                <a:sym typeface="Helvetica Neue" charset="0"/>
              </a:rPr>
              <a:t>可调分组密码算法</a:t>
            </a:r>
            <a:endParaRPr lang="zh-CN" altLang="zh-CN" sz="5400" dirty="0">
              <a:solidFill>
                <a:srgbClr val="008000"/>
              </a:solidFill>
              <a:latin typeface="+mj-ea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502244" y="4003993"/>
            <a:ext cx="5282073" cy="2200552"/>
            <a:chOff x="502244" y="4003993"/>
            <a:chExt cx="5282073" cy="2200552"/>
          </a:xfrm>
        </p:grpSpPr>
        <p:sp>
          <p:nvSpPr>
            <p:cNvPr id="5" name="矩形: 圆角 4"/>
            <p:cNvSpPr/>
            <p:nvPr/>
          </p:nvSpPr>
          <p:spPr bwMode="auto">
            <a:xfrm>
              <a:off x="2125482" y="5169187"/>
              <a:ext cx="2016224" cy="1035358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headEnd type="none" w="med" len="med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zh-CN" sz="4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" name="直接箭头连接符 6"/>
            <p:cNvCxnSpPr/>
            <p:nvPr/>
          </p:nvCxnSpPr>
          <p:spPr bwMode="auto">
            <a:xfrm>
              <a:off x="1477410" y="5686866"/>
              <a:ext cx="648072" cy="0"/>
            </a:xfrm>
            <a:prstGeom prst="straightConnector1">
              <a:avLst/>
            </a:prstGeom>
            <a:solidFill>
              <a:srgbClr val="FFFFFF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9" name="直接箭头连接符 8"/>
            <p:cNvCxnSpPr/>
            <p:nvPr/>
          </p:nvCxnSpPr>
          <p:spPr bwMode="auto">
            <a:xfrm>
              <a:off x="3133594" y="4593123"/>
              <a:ext cx="0" cy="576064"/>
            </a:xfrm>
            <a:prstGeom prst="straightConnector1">
              <a:avLst/>
            </a:prstGeom>
            <a:solidFill>
              <a:srgbClr val="FFFFFF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1" name="直接箭头连接符 10"/>
            <p:cNvCxnSpPr/>
            <p:nvPr/>
          </p:nvCxnSpPr>
          <p:spPr bwMode="auto">
            <a:xfrm>
              <a:off x="4141706" y="5674510"/>
              <a:ext cx="720080" cy="0"/>
            </a:xfrm>
            <a:prstGeom prst="straightConnector1">
              <a:avLst/>
            </a:prstGeom>
            <a:solidFill>
              <a:srgbClr val="FFFFFF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15" name="文本框 14"/>
            <p:cNvSpPr txBox="1"/>
            <p:nvPr/>
          </p:nvSpPr>
          <p:spPr>
            <a:xfrm>
              <a:off x="502244" y="5382122"/>
              <a:ext cx="100540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/>
                <a:t>明文</a:t>
              </a:r>
              <a:endParaRPr lang="zh-CN" altLang="en-US" dirty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630892" y="4003993"/>
              <a:ext cx="100540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/>
                <a:t>密钥</a:t>
              </a:r>
              <a:endParaRPr lang="zh-CN" altLang="en-US" dirty="0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4778914" y="5394478"/>
              <a:ext cx="100540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/>
                <a:t>密文</a:t>
              </a:r>
              <a:endParaRPr lang="zh-CN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6457156" y="2068831"/>
                <a:ext cx="5940683" cy="100776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457200" indent="-457200" algn="ju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3200" dirty="0">
                    <a:solidFill>
                      <a:srgbClr val="350FF1"/>
                    </a:solidFill>
                  </a:rPr>
                  <a:t>可调分组密码</a:t>
                </a:r>
                <a:r>
                  <a:rPr lang="zh-CN" altLang="en-US" sz="3600" dirty="0">
                    <a:solidFill>
                      <a:srgbClr val="350FF1"/>
                    </a:solidFill>
                  </a:rPr>
                  <a:t>：</a:t>
                </a:r>
                <a:endParaRPr lang="en-US" altLang="zh-CN" sz="3600" b="1" i="1" dirty="0">
                  <a:solidFill>
                    <a:srgbClr val="350FF1"/>
                  </a:solidFill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1" i="1" smtClean="0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lang="en-US" altLang="zh-CN" sz="3600" b="1" i="1" smtClean="0">
                              <a:solidFill>
                                <a:srgbClr val="350FF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600" b="1" i="1" smtClean="0">
                              <a:solidFill>
                                <a:srgbClr val="350FF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zh-CN" sz="3600" b="1" i="1" smtClean="0">
                              <a:solidFill>
                                <a:srgbClr val="350FF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600" b="1" i="1" smtClean="0">
                              <a:solidFill>
                                <a:srgbClr val="350FF1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  <m:r>
                            <a:rPr lang="en-US" altLang="zh-CN" sz="3600" b="1" i="1" smtClean="0">
                              <a:solidFill>
                                <a:srgbClr val="350FF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</m:d>
                      <m:r>
                        <a:rPr lang="en-US" altLang="zh-CN" sz="3600" b="1" i="1" smtClean="0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600" b="1" i="1" smtClean="0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zh-CN" altLang="en-US" sz="3200" b="0" dirty="0">
                  <a:solidFill>
                    <a:srgbClr val="350FF1"/>
                  </a:solidFill>
                </a:endParaRPr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7156" y="2068831"/>
                <a:ext cx="5940683" cy="1007769"/>
              </a:xfrm>
              <a:prstGeom prst="rect">
                <a:avLst/>
              </a:prstGeom>
              <a:blipFill rotWithShape="1">
                <a:blip r:embed="rId2"/>
                <a:stretch>
                  <a:fillRect l="-8" r="2" b="-678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组合 34"/>
          <p:cNvGrpSpPr/>
          <p:nvPr/>
        </p:nvGrpSpPr>
        <p:grpSpPr>
          <a:xfrm>
            <a:off x="6980913" y="3796680"/>
            <a:ext cx="5282073" cy="3213607"/>
            <a:chOff x="6980913" y="3969221"/>
            <a:chExt cx="5282073" cy="3213607"/>
          </a:xfrm>
        </p:grpSpPr>
        <p:sp>
          <p:nvSpPr>
            <p:cNvPr id="22" name="矩形: 圆角 21"/>
            <p:cNvSpPr/>
            <p:nvPr/>
          </p:nvSpPr>
          <p:spPr bwMode="auto">
            <a:xfrm>
              <a:off x="8604151" y="5134415"/>
              <a:ext cx="2016224" cy="1035358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headEnd type="none" w="med" len="med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zh-CN" sz="4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3" name="直接箭头连接符 22"/>
            <p:cNvCxnSpPr/>
            <p:nvPr/>
          </p:nvCxnSpPr>
          <p:spPr bwMode="auto">
            <a:xfrm>
              <a:off x="7956079" y="5652094"/>
              <a:ext cx="648072" cy="0"/>
            </a:xfrm>
            <a:prstGeom prst="straightConnector1">
              <a:avLst/>
            </a:prstGeom>
            <a:solidFill>
              <a:srgbClr val="FFFFFF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24" name="直接箭头连接符 23"/>
            <p:cNvCxnSpPr/>
            <p:nvPr/>
          </p:nvCxnSpPr>
          <p:spPr bwMode="auto">
            <a:xfrm>
              <a:off x="9612263" y="4558351"/>
              <a:ext cx="0" cy="576064"/>
            </a:xfrm>
            <a:prstGeom prst="straightConnector1">
              <a:avLst/>
            </a:prstGeom>
            <a:solidFill>
              <a:srgbClr val="FFFFFF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25" name="直接箭头连接符 24"/>
            <p:cNvCxnSpPr/>
            <p:nvPr/>
          </p:nvCxnSpPr>
          <p:spPr bwMode="auto">
            <a:xfrm>
              <a:off x="10620375" y="5639738"/>
              <a:ext cx="720080" cy="0"/>
            </a:xfrm>
            <a:prstGeom prst="straightConnector1">
              <a:avLst/>
            </a:prstGeom>
            <a:solidFill>
              <a:srgbClr val="FFFFFF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26" name="文本框 25"/>
            <p:cNvSpPr txBox="1"/>
            <p:nvPr/>
          </p:nvSpPr>
          <p:spPr>
            <a:xfrm>
              <a:off x="6980913" y="5347350"/>
              <a:ext cx="100540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/>
                <a:t>明文</a:t>
              </a:r>
              <a:endParaRPr lang="zh-CN" altLang="en-US" dirty="0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9109561" y="3969221"/>
              <a:ext cx="100540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/>
                <a:t>密钥</a:t>
              </a:r>
              <a:endParaRPr lang="zh-CN" altLang="en-US" dirty="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1257583" y="5359706"/>
              <a:ext cx="100540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/>
                <a:t>密文</a:t>
              </a:r>
              <a:endParaRPr lang="zh-CN" altLang="en-US" dirty="0"/>
            </a:p>
          </p:txBody>
        </p:sp>
        <p:cxnSp>
          <p:nvCxnSpPr>
            <p:cNvPr id="29" name="直接箭头连接符 28"/>
            <p:cNvCxnSpPr/>
            <p:nvPr/>
          </p:nvCxnSpPr>
          <p:spPr bwMode="auto">
            <a:xfrm flipV="1">
              <a:off x="9612262" y="6204545"/>
              <a:ext cx="0" cy="432048"/>
            </a:xfrm>
            <a:prstGeom prst="straightConnector1">
              <a:avLst/>
            </a:prstGeom>
            <a:solidFill>
              <a:srgbClr val="FFFFFF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33" name="文本框 32"/>
            <p:cNvSpPr txBox="1"/>
            <p:nvPr/>
          </p:nvSpPr>
          <p:spPr>
            <a:xfrm>
              <a:off x="9137550" y="6598053"/>
              <a:ext cx="100540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/>
                <a:t>调柄</a:t>
              </a:r>
              <a:endParaRPr lang="zh-CN" altLang="en-US" dirty="0"/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268401" y="7276940"/>
            <a:ext cx="11989301" cy="174648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b="0" dirty="0">
                <a:solidFill>
                  <a:schemeClr val="tx1"/>
                </a:solidFill>
              </a:rPr>
              <a:t>如果</a:t>
            </a:r>
            <a:r>
              <a:rPr lang="zh-CN" altLang="en-US" sz="3200" dirty="0">
                <a:solidFill>
                  <a:srgbClr val="FF0000"/>
                </a:solidFill>
              </a:rPr>
              <a:t>更改调柄</a:t>
            </a:r>
            <a:r>
              <a:rPr lang="en-US" altLang="zh-CN" sz="3200" i="1" dirty="0">
                <a:solidFill>
                  <a:srgbClr val="FF0000"/>
                </a:solidFill>
              </a:rPr>
              <a:t>T</a:t>
            </a:r>
            <a:r>
              <a:rPr lang="zh-CN" altLang="en-US" sz="3200" dirty="0">
                <a:solidFill>
                  <a:srgbClr val="FF0000"/>
                </a:solidFill>
              </a:rPr>
              <a:t>值的开销优于更改秘密密钥</a:t>
            </a:r>
            <a:r>
              <a:rPr lang="en-US" altLang="zh-CN" sz="3200" dirty="0">
                <a:solidFill>
                  <a:srgbClr val="FF0000"/>
                </a:solidFill>
              </a:rPr>
              <a:t>K</a:t>
            </a:r>
            <a:r>
              <a:rPr lang="zh-CN" altLang="en-US" sz="3200" dirty="0">
                <a:solidFill>
                  <a:srgbClr val="FF0000"/>
                </a:solidFill>
              </a:rPr>
              <a:t>的开销</a:t>
            </a:r>
            <a:r>
              <a:rPr lang="zh-CN" altLang="en-US" sz="3200" b="0" dirty="0">
                <a:solidFill>
                  <a:schemeClr val="tx1"/>
                </a:solidFill>
              </a:rPr>
              <a:t>，则可调分组密码的设计是很有意义的。</a:t>
            </a:r>
            <a:endParaRPr lang="en-US" altLang="zh-CN" sz="32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1" grpId="0"/>
      <p:bldP spid="21" grpId="1"/>
      <p:bldP spid="36" grpId="0"/>
      <p:bldP spid="36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0" y="1420416"/>
            <a:ext cx="13004800" cy="360040"/>
          </a:xfrm>
          <a:prstGeom prst="rect">
            <a:avLst/>
          </a:prstGeom>
          <a:solidFill>
            <a:srgbClr val="008000"/>
          </a:solidFill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50800" tIns="50800" rIns="50800" bIns="50800" numCol="1" rtlCol="0" anchor="ctr" anchorCtr="0" compatLnSpc="1"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1720" y="2079755"/>
            <a:ext cx="11917347" cy="23649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200" b="0" dirty="0">
                <a:solidFill>
                  <a:schemeClr val="tx1"/>
                </a:solidFill>
              </a:rPr>
              <a:t>2014</a:t>
            </a:r>
            <a:r>
              <a:rPr lang="zh-CN" altLang="en-US" sz="3200" b="0" dirty="0">
                <a:solidFill>
                  <a:schemeClr val="tx1"/>
                </a:solidFill>
              </a:rPr>
              <a:t>年，</a:t>
            </a:r>
            <a:r>
              <a:rPr lang="en-US" altLang="zh-CN" sz="3200" b="0" dirty="0">
                <a:solidFill>
                  <a:schemeClr val="tx1"/>
                </a:solidFill>
              </a:rPr>
              <a:t>Jean</a:t>
            </a:r>
            <a:r>
              <a:rPr lang="zh-CN" altLang="en-US" sz="3200" b="0" dirty="0">
                <a:solidFill>
                  <a:schemeClr val="tx1"/>
                </a:solidFill>
              </a:rPr>
              <a:t>等人提出</a:t>
            </a:r>
            <a:r>
              <a:rPr lang="zh-CN" altLang="en-US" sz="3200" dirty="0">
                <a:solidFill>
                  <a:srgbClr val="350FF1"/>
                </a:solidFill>
              </a:rPr>
              <a:t>联合密钥</a:t>
            </a:r>
            <a:r>
              <a:rPr lang="en-US" altLang="zh-CN" sz="3200" dirty="0">
                <a:solidFill>
                  <a:srgbClr val="350FF1"/>
                </a:solidFill>
              </a:rPr>
              <a:t>K</a:t>
            </a:r>
            <a:r>
              <a:rPr lang="zh-CN" altLang="en-US" sz="3200" dirty="0">
                <a:solidFill>
                  <a:srgbClr val="350FF1"/>
                </a:solidFill>
              </a:rPr>
              <a:t>和调柄</a:t>
            </a:r>
            <a:r>
              <a:rPr lang="en-US" altLang="zh-CN" sz="3200" dirty="0">
                <a:solidFill>
                  <a:srgbClr val="350FF1"/>
                </a:solidFill>
              </a:rPr>
              <a:t>T</a:t>
            </a:r>
            <a:r>
              <a:rPr lang="zh-CN" altLang="en-US" sz="3200" b="0" dirty="0">
                <a:solidFill>
                  <a:schemeClr val="tx1"/>
                </a:solidFill>
              </a:rPr>
              <a:t>作为密码输入，即，将</a:t>
            </a:r>
            <a:r>
              <a:rPr lang="en-US" altLang="zh-CN" sz="3200" b="0" dirty="0">
                <a:solidFill>
                  <a:schemeClr val="tx1"/>
                </a:solidFill>
              </a:rPr>
              <a:t>k</a:t>
            </a:r>
            <a:r>
              <a:rPr lang="zh-CN" altLang="en-US" sz="3200" b="0" dirty="0">
                <a:solidFill>
                  <a:schemeClr val="tx1"/>
                </a:solidFill>
              </a:rPr>
              <a:t>比特密钥和</a:t>
            </a:r>
            <a:r>
              <a:rPr lang="en-US" altLang="zh-CN" sz="3200" b="0" dirty="0">
                <a:solidFill>
                  <a:schemeClr val="tx1"/>
                </a:solidFill>
              </a:rPr>
              <a:t>t</a:t>
            </a:r>
            <a:r>
              <a:rPr lang="zh-CN" altLang="en-US" sz="3200" b="0" dirty="0">
                <a:solidFill>
                  <a:schemeClr val="tx1"/>
                </a:solidFill>
              </a:rPr>
              <a:t>比特调柄结合起来作为</a:t>
            </a:r>
            <a:r>
              <a:rPr lang="zh-CN" altLang="en-US" sz="3200" dirty="0">
                <a:solidFill>
                  <a:srgbClr val="FF0000"/>
                </a:solidFill>
              </a:rPr>
              <a:t>可调密钥（</a:t>
            </a:r>
            <a:r>
              <a:rPr lang="en-US" altLang="zh-CN" sz="3200" dirty="0" err="1">
                <a:solidFill>
                  <a:srgbClr val="FF0000"/>
                </a:solidFill>
              </a:rPr>
              <a:t>tweakey</a:t>
            </a:r>
            <a:r>
              <a:rPr lang="zh-CN" altLang="en-US" sz="3200" dirty="0">
                <a:solidFill>
                  <a:srgbClr val="FF0000"/>
                </a:solidFill>
              </a:rPr>
              <a:t>）</a:t>
            </a:r>
            <a:r>
              <a:rPr lang="zh-CN" altLang="en-US" sz="3200" b="0" dirty="0">
                <a:solidFill>
                  <a:schemeClr val="tx1"/>
                </a:solidFill>
              </a:rPr>
              <a:t>。通过</a:t>
            </a:r>
            <a:r>
              <a:rPr lang="zh-CN" altLang="en-US" sz="3200" dirty="0">
                <a:solidFill>
                  <a:schemeClr val="tx1"/>
                </a:solidFill>
              </a:rPr>
              <a:t>可调密钥编排算法</a:t>
            </a:r>
            <a:r>
              <a:rPr lang="zh-CN" altLang="en-US" sz="3200" b="0" dirty="0">
                <a:solidFill>
                  <a:schemeClr val="tx1"/>
                </a:solidFill>
              </a:rPr>
              <a:t>，生成</a:t>
            </a:r>
            <a:r>
              <a:rPr lang="zh-CN" altLang="en-US" sz="3200" dirty="0">
                <a:solidFill>
                  <a:schemeClr val="tx1"/>
                </a:solidFill>
              </a:rPr>
              <a:t>轮可调密钥</a:t>
            </a:r>
            <a:r>
              <a:rPr lang="zh-CN" altLang="en-US" sz="3200" b="0" dirty="0">
                <a:solidFill>
                  <a:schemeClr val="tx1"/>
                </a:solidFill>
              </a:rPr>
              <a:t>参与加解密。</a:t>
            </a:r>
            <a:endParaRPr lang="en-US" altLang="zh-CN" sz="3600" b="0" dirty="0">
              <a:solidFill>
                <a:schemeClr val="tx1"/>
              </a:solidFill>
            </a:endParaRP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 bwMode="auto">
          <a:xfrm>
            <a:off x="958215" y="412115"/>
            <a:ext cx="9662160" cy="720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b" anchorCtr="0" compatLnSpc="1"/>
          <a:lstStyle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6000" kern="120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 Neue Medium" charset="0"/>
              </a:defRPr>
            </a:lvl1pPr>
            <a:lvl2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2pPr>
            <a:lvl3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3pPr>
            <a:lvl4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4pPr>
            <a:lvl5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5pPr>
            <a:lvl6pPr marL="4572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6pPr>
            <a:lvl7pPr marL="9144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7pPr>
            <a:lvl8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8pPr>
            <a:lvl9pPr marL="18288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9pPr>
          </a:lstStyle>
          <a:p>
            <a:pPr algn="l" eaLnBrk="1">
              <a:defRPr/>
            </a:pPr>
            <a:r>
              <a:rPr lang="zh-CN" altLang="en-US" sz="5400" dirty="0">
                <a:solidFill>
                  <a:srgbClr val="008000"/>
                </a:solidFill>
                <a:latin typeface="+mj-ea"/>
              </a:rPr>
              <a:t>第六讲 </a:t>
            </a:r>
            <a:r>
              <a:rPr lang="zh-CN" altLang="en-US" sz="5400" dirty="0">
                <a:ln>
                  <a:noFill/>
                </a:ln>
                <a:solidFill>
                  <a:srgbClr val="006600"/>
                </a:solidFill>
                <a:effectLst/>
                <a:latin typeface="+mj-ea"/>
                <a:cs typeface="Helvetica Neue" charset="0"/>
                <a:sym typeface="Helvetica Neue" charset="0"/>
              </a:rPr>
              <a:t>可调分组密码算法</a:t>
            </a:r>
            <a:endParaRPr lang="zh-CN" altLang="zh-CN" sz="5400" dirty="0">
              <a:solidFill>
                <a:srgbClr val="008000"/>
              </a:solidFill>
              <a:latin typeface="+mj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7511" y="4228728"/>
            <a:ext cx="8529777" cy="311297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81720" y="7509237"/>
            <a:ext cx="11917347" cy="16478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b="0" dirty="0">
                <a:solidFill>
                  <a:schemeClr val="tx1"/>
                </a:solidFill>
              </a:rPr>
              <a:t>以</a:t>
            </a:r>
            <a:r>
              <a:rPr lang="en-US" altLang="zh-CN" sz="3200" b="0" dirty="0">
                <a:solidFill>
                  <a:schemeClr val="tx1"/>
                </a:solidFill>
              </a:rPr>
              <a:t>Skinny</a:t>
            </a:r>
            <a:r>
              <a:rPr lang="zh-CN" altLang="en-US" sz="3200" b="0" dirty="0">
                <a:solidFill>
                  <a:schemeClr val="tx1"/>
                </a:solidFill>
              </a:rPr>
              <a:t>、</a:t>
            </a:r>
            <a:r>
              <a:rPr lang="en-US" altLang="zh-CN" sz="3200" b="0" dirty="0">
                <a:solidFill>
                  <a:schemeClr val="tx1"/>
                </a:solidFill>
              </a:rPr>
              <a:t>Craft</a:t>
            </a:r>
            <a:r>
              <a:rPr lang="zh-CN" altLang="en-US" sz="3200" b="0" dirty="0">
                <a:solidFill>
                  <a:schemeClr val="tx1"/>
                </a:solidFill>
              </a:rPr>
              <a:t>、</a:t>
            </a:r>
            <a:r>
              <a:rPr lang="en-US" altLang="zh-CN" sz="3200" b="0" dirty="0" err="1">
                <a:solidFill>
                  <a:schemeClr val="tx1"/>
                </a:solidFill>
              </a:rPr>
              <a:t>Qarma</a:t>
            </a:r>
            <a:r>
              <a:rPr lang="zh-CN" altLang="en-US" sz="3200" b="0" dirty="0">
                <a:solidFill>
                  <a:schemeClr val="tx1"/>
                </a:solidFill>
              </a:rPr>
              <a:t>、</a:t>
            </a:r>
            <a:r>
              <a:rPr lang="en-US" altLang="zh-CN" sz="3200" b="0" dirty="0">
                <a:solidFill>
                  <a:schemeClr val="tx1"/>
                </a:solidFill>
              </a:rPr>
              <a:t>Scarf</a:t>
            </a:r>
            <a:r>
              <a:rPr lang="zh-CN" altLang="en-US" sz="3200" b="0" dirty="0">
                <a:solidFill>
                  <a:schemeClr val="tx1"/>
                </a:solidFill>
              </a:rPr>
              <a:t>为代表的可调分组密码算法，均采用上述框架进行设计。</a:t>
            </a:r>
            <a:endParaRPr lang="en-US" altLang="zh-CN" sz="36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0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0" y="1420416"/>
            <a:ext cx="13004800" cy="360040"/>
          </a:xfrm>
          <a:prstGeom prst="rect">
            <a:avLst/>
          </a:prstGeom>
          <a:solidFill>
            <a:srgbClr val="008000"/>
          </a:solidFill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50800" tIns="50800" rIns="50800" bIns="50800" numCol="1" rtlCol="0" anchor="ctr" anchorCtr="0" compatLnSpc="1"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7" name="Rectangle 1"/>
          <p:cNvSpPr txBox="1">
            <a:spLocks noChangeArrowheads="1"/>
          </p:cNvSpPr>
          <p:nvPr/>
        </p:nvSpPr>
        <p:spPr bwMode="auto">
          <a:xfrm>
            <a:off x="1030633" y="459200"/>
            <a:ext cx="7559999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b" anchorCtr="0" compatLnSpc="1"/>
          <a:lstStyle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6000" kern="120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 Neue Medium" charset="0"/>
              </a:defRPr>
            </a:lvl1pPr>
            <a:lvl2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2pPr>
            <a:lvl3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3pPr>
            <a:lvl4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4pPr>
            <a:lvl5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5pPr>
            <a:lvl6pPr marL="4572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6pPr>
            <a:lvl7pPr marL="9144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7pPr>
            <a:lvl8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8pPr>
            <a:lvl9pPr marL="18288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9pPr>
          </a:lstStyle>
          <a:p>
            <a:pPr algn="l" eaLnBrk="1">
              <a:defRPr/>
            </a:pPr>
            <a:r>
              <a:rPr lang="en-US" altLang="zh-CN" sz="5400" dirty="0">
                <a:solidFill>
                  <a:srgbClr val="008000"/>
                </a:solidFill>
                <a:latin typeface="+mn-ea"/>
                <a:ea typeface="+mn-ea"/>
                <a:cs typeface="Times New Roman" panose="02020603050405020304" pitchFamily="18" charset="0"/>
              </a:rPr>
              <a:t>6.1 Skinny</a:t>
            </a:r>
            <a:r>
              <a:rPr lang="zh-CN" altLang="en-US" sz="5400" dirty="0">
                <a:solidFill>
                  <a:srgbClr val="008000"/>
                </a:solidFill>
                <a:latin typeface="+mn-ea"/>
                <a:ea typeface="+mn-ea"/>
                <a:cs typeface="Times New Roman" panose="02020603050405020304" pitchFamily="18" charset="0"/>
              </a:rPr>
              <a:t>算法族简介</a:t>
            </a:r>
            <a:endParaRPr lang="zh-CN" altLang="zh-CN" sz="5400" dirty="0">
              <a:solidFill>
                <a:srgbClr val="008000"/>
              </a:solidFill>
              <a:latin typeface="+mn-ea"/>
              <a:ea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58203" y="2390911"/>
            <a:ext cx="11088391" cy="1655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600" b="0" dirty="0"/>
              <a:t>2016</a:t>
            </a:r>
            <a:r>
              <a:rPr lang="zh-CN" altLang="en-US" sz="3600" b="0" dirty="0"/>
              <a:t>年，</a:t>
            </a:r>
            <a:r>
              <a:rPr lang="en-US" altLang="zh-CN" sz="3600" b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Christof Beierle</a:t>
            </a:r>
            <a:r>
              <a:rPr lang="zh-CN" altLang="en-US" sz="36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等</a:t>
            </a:r>
            <a:r>
              <a:rPr lang="zh-CN" altLang="en-US" sz="3600" b="0" dirty="0"/>
              <a:t>提出可调分组密码算法族</a:t>
            </a:r>
            <a:r>
              <a:rPr lang="en-US" altLang="zh-CN" sz="3600" dirty="0"/>
              <a:t>Skinny</a:t>
            </a:r>
            <a:r>
              <a:rPr lang="en-US" altLang="zh-CN" sz="3600" b="0" baseline="30000" dirty="0"/>
              <a:t>[1]</a:t>
            </a:r>
            <a:r>
              <a:rPr lang="zh-CN" altLang="en-US" sz="3600" b="0" dirty="0"/>
              <a:t>；</a:t>
            </a:r>
            <a:endParaRPr lang="zh-CN" altLang="en-US" sz="3600" b="0" dirty="0"/>
          </a:p>
        </p:txBody>
      </p:sp>
      <p:sp>
        <p:nvSpPr>
          <p:cNvPr id="6" name="文本框 5"/>
          <p:cNvSpPr txBox="1"/>
          <p:nvPr/>
        </p:nvSpPr>
        <p:spPr>
          <a:xfrm>
            <a:off x="958201" y="4301467"/>
            <a:ext cx="11088391" cy="1655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600" b="0" dirty="0"/>
              <a:t>Skinny</a:t>
            </a:r>
            <a:r>
              <a:rPr lang="zh-CN" altLang="en-US" sz="3600" b="0" dirty="0"/>
              <a:t>算法根据</a:t>
            </a:r>
            <a:r>
              <a:rPr lang="zh-CN" altLang="en-US" sz="3600" dirty="0">
                <a:solidFill>
                  <a:srgbClr val="350FF1"/>
                </a:solidFill>
              </a:rPr>
              <a:t>分组长度</a:t>
            </a:r>
            <a:r>
              <a:rPr lang="zh-CN" altLang="en-US" sz="3600" b="0" dirty="0"/>
              <a:t>和</a:t>
            </a:r>
            <a:r>
              <a:rPr lang="zh-CN" altLang="en-US" sz="3600" dirty="0">
                <a:solidFill>
                  <a:srgbClr val="350FF1"/>
                </a:solidFill>
              </a:rPr>
              <a:t>可调密钥长度</a:t>
            </a:r>
            <a:r>
              <a:rPr lang="zh-CN" altLang="en-US" sz="3600" b="0" dirty="0"/>
              <a:t>不同，共有</a:t>
            </a:r>
            <a:r>
              <a:rPr lang="en-US" altLang="zh-CN" sz="3600" dirty="0">
                <a:solidFill>
                  <a:srgbClr val="FF0000"/>
                </a:solidFill>
              </a:rPr>
              <a:t>6</a:t>
            </a:r>
            <a:r>
              <a:rPr lang="zh-CN" altLang="en-US" sz="3600" dirty="0">
                <a:solidFill>
                  <a:srgbClr val="FF0000"/>
                </a:solidFill>
              </a:rPr>
              <a:t>个版本；</a:t>
            </a:r>
            <a:endParaRPr lang="zh-CN" altLang="en-US" sz="3600" b="0" dirty="0"/>
          </a:p>
        </p:txBody>
      </p:sp>
      <p:sp>
        <p:nvSpPr>
          <p:cNvPr id="8" name="文本框 7"/>
          <p:cNvSpPr txBox="1"/>
          <p:nvPr/>
        </p:nvSpPr>
        <p:spPr>
          <a:xfrm>
            <a:off x="958200" y="6177457"/>
            <a:ext cx="11088391" cy="1655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600" b="0" dirty="0">
                <a:sym typeface="+mn-ea"/>
              </a:rPr>
              <a:t>Skinny</a:t>
            </a:r>
            <a:r>
              <a:rPr lang="zh-CN" altLang="en-US" sz="3600" b="0" dirty="0"/>
              <a:t>算法的</a:t>
            </a:r>
            <a:r>
              <a:rPr lang="zh-CN" altLang="en-US" sz="3600" dirty="0">
                <a:solidFill>
                  <a:srgbClr val="350FF1"/>
                </a:solidFill>
              </a:rPr>
              <a:t>加密</a:t>
            </a:r>
            <a:r>
              <a:rPr lang="zh-CN" altLang="en-US" sz="3600" b="0" dirty="0"/>
              <a:t>采用</a:t>
            </a:r>
            <a:r>
              <a:rPr lang="en-US" sz="3600" dirty="0">
                <a:solidFill>
                  <a:srgbClr val="FF0000"/>
                </a:solidFill>
              </a:rPr>
              <a:t>SPN</a:t>
            </a:r>
            <a:r>
              <a:rPr lang="zh-CN" altLang="en-US" sz="3600" dirty="0">
                <a:solidFill>
                  <a:srgbClr val="FF0000"/>
                </a:solidFill>
              </a:rPr>
              <a:t>结构</a:t>
            </a:r>
            <a:r>
              <a:rPr lang="zh-CN" altLang="en-US" sz="3600" dirty="0">
                <a:solidFill>
                  <a:schemeClr val="tx1"/>
                </a:solidFill>
              </a:rPr>
              <a:t>，</a:t>
            </a:r>
            <a:r>
              <a:rPr lang="zh-CN" altLang="en-US" sz="3600" b="0" dirty="0">
                <a:solidFill>
                  <a:schemeClr val="tx1"/>
                </a:solidFill>
              </a:rPr>
              <a:t>可调密钥编排算法采用纯线性变换。</a:t>
            </a:r>
            <a:endParaRPr lang="zh-CN" altLang="en-US" sz="3600" b="0" dirty="0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9245" y="8261350"/>
            <a:ext cx="12203430" cy="9994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zh-CN" b="0" dirty="0">
                <a:solidFill>
                  <a:srgbClr val="222222"/>
                </a:solidFill>
                <a:latin typeface="Arial" panose="020B0604020202020204" pitchFamily="34" charset="0"/>
              </a:rPr>
              <a:t>[1] </a:t>
            </a:r>
            <a:r>
              <a:rPr lang="en-US" altLang="zh-CN" sz="2000" b="0" dirty="0">
                <a:latin typeface="Arial" panose="020B0604020202020204" pitchFamily="34" charset="0"/>
                <a:cs typeface="Arial" panose="020B0604020202020204" pitchFamily="34" charset="0"/>
              </a:rPr>
              <a:t>Beierle C, Jean J, K</a:t>
            </a:r>
            <a:r>
              <a:rPr lang="en-US" alt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ö</a:t>
            </a:r>
            <a:r>
              <a:rPr lang="en-US" altLang="zh-CN" sz="2000" b="0" dirty="0">
                <a:latin typeface="Arial" panose="020B0604020202020204" pitchFamily="34" charset="0"/>
                <a:cs typeface="Arial" panose="020B0604020202020204" pitchFamily="34" charset="0"/>
              </a:rPr>
              <a:t>lbl S, et al. The SKINNY Family of Block Ciphers and Its Low-Latency Variant MANTIS[C]. //Advances in Cryptology - CRYPTO 2016. Santa Barbara, CA, USA: Springer, 2016: 123-153.</a:t>
            </a:r>
            <a:endParaRPr lang="en-US" altLang="zh-CN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0" y="1420416"/>
            <a:ext cx="13004800" cy="360040"/>
          </a:xfrm>
          <a:prstGeom prst="rect">
            <a:avLst/>
          </a:prstGeom>
          <a:solidFill>
            <a:srgbClr val="008000"/>
          </a:solidFill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50800" tIns="50800" rIns="50800" bIns="50800" numCol="1" rtlCol="0" anchor="ctr" anchorCtr="0" compatLnSpc="1"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813436" y="2068195"/>
                <a:ext cx="10798810" cy="16554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sz="3600" dirty="0"/>
                  <a:t>Skinny n/t</a:t>
                </a:r>
                <a:r>
                  <a:rPr lang="zh-CN" altLang="en-US" sz="3600" b="0" dirty="0"/>
                  <a:t>表示</a:t>
                </a:r>
                <a:r>
                  <a:rPr lang="zh-CN" altLang="en-US" sz="3600" dirty="0">
                    <a:solidFill>
                      <a:srgbClr val="350FF1"/>
                    </a:solidFill>
                  </a:rPr>
                  <a:t>分组长度为</a:t>
                </a:r>
                <a14:m>
                  <m:oMath xmlns:m="http://schemas.openxmlformats.org/officeDocument/2006/math">
                    <m:r>
                      <a:rPr lang="en-US" altLang="zh-CN" sz="3600" i="1" dirty="0">
                        <a:solidFill>
                          <a:srgbClr val="350FF1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600" b="0" dirty="0">
                    <a:solidFill>
                      <a:srgbClr val="350FF1"/>
                    </a:solidFill>
                  </a:rPr>
                  <a:t>、</a:t>
                </a:r>
                <a:r>
                  <a:rPr lang="zh-CN" altLang="en-US" sz="3600" dirty="0">
                    <a:solidFill>
                      <a:srgbClr val="350FF1"/>
                    </a:solidFill>
                  </a:rPr>
                  <a:t>可调参数长度为</a:t>
                </a:r>
                <a:endParaRPr lang="zh-CN" altLang="en-US" sz="3600" dirty="0">
                  <a:solidFill>
                    <a:srgbClr val="350FF1"/>
                  </a:solidFill>
                </a:endParaRPr>
              </a:p>
              <a:p>
                <a:pPr algn="just">
                  <a:lnSpc>
                    <a:spcPct val="150000"/>
                  </a:lnSpc>
                  <a:buFont typeface="Wingdings" panose="05000000000000000000" pitchFamily="2" charset="2"/>
                </a:pPr>
                <a14:m>
                  <m:oMath xmlns:m="http://schemas.openxmlformats.org/officeDocument/2006/math">
                    <m:r>
                      <a:rPr lang="en-US" altLang="zh-CN" sz="3600" b="0" i="1" dirty="0">
                        <a:solidFill>
                          <a:srgbClr val="350FF1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𝑡</m:t>
                    </m:r>
                    <m:r>
                      <a:rPr lang="en-US" altLang="zh-CN" sz="3600" b="0" i="1" dirty="0">
                        <a:solidFill>
                          <a:srgbClr val="350FF1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3600" b="0" i="1" dirty="0">
                        <a:solidFill>
                          <a:srgbClr val="350FF1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3600" b="0" dirty="0" err="1">
                    <a:solidFill>
                      <a:srgbClr val="350FF1"/>
                    </a:solidFill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3600" b="0" i="1" dirty="0">
                        <a:solidFill>
                          <a:srgbClr val="350FF1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altLang="zh-CN" sz="3600" b="0" i="1" dirty="0">
                        <a:solidFill>
                          <a:srgbClr val="350FF1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3600" b="0" dirty="0" err="1">
                    <a:solidFill>
                      <a:srgbClr val="350FF1"/>
                    </a:solidFill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3600" b="0" i="1" dirty="0">
                        <a:solidFill>
                          <a:srgbClr val="350FF1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r>
                      <a:rPr lang="en-US" altLang="zh-CN" sz="3600" i="1" dirty="0">
                        <a:solidFill>
                          <a:srgbClr val="350FF1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600" b="0" dirty="0"/>
                  <a:t>的算法版本：</a:t>
                </a:r>
                <a:endParaRPr lang="zh-CN" altLang="en-US" sz="3600" b="0" dirty="0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436" y="2068195"/>
                <a:ext cx="10798810" cy="1655453"/>
              </a:xfrm>
              <a:prstGeom prst="rect">
                <a:avLst/>
              </a:prstGeom>
              <a:blipFill rotWithShape="1">
                <a:blip r:embed="rId1"/>
                <a:stretch>
                  <a:fillRect b="-21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1030633" y="4331846"/>
                <a:ext cx="5818664" cy="1877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3200" dirty="0">
                    <a:solidFill>
                      <a:srgbClr val="350FF1"/>
                    </a:solidFill>
                  </a:rPr>
                  <a:t>block size</a:t>
                </a:r>
                <a:r>
                  <a:rPr lang="zh-CN" altLang="en-US" sz="3200" dirty="0"/>
                  <a:t>：分组长度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200" dirty="0"/>
                  <a:t>；</a:t>
                </a:r>
                <a:endParaRPr lang="en-US" altLang="zh-CN" sz="3200" dirty="0"/>
              </a:p>
              <a:p>
                <a:pPr marL="342900" indent="-342900" algn="just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3200" dirty="0">
                    <a:solidFill>
                      <a:srgbClr val="350FF1"/>
                    </a:solidFill>
                  </a:rPr>
                  <a:t>Tweakey size</a:t>
                </a:r>
                <a:r>
                  <a:rPr lang="zh-CN" altLang="en-US" sz="3200" dirty="0"/>
                  <a:t>：可调密钥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3200" dirty="0"/>
                  <a:t>；</a:t>
                </a:r>
                <a:endParaRPr lang="en-US" altLang="zh-CN" sz="3200" dirty="0"/>
              </a:p>
              <a:p>
                <a:pPr marL="342900" indent="-342900" algn="just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3200" dirty="0">
                    <a:solidFill>
                      <a:srgbClr val="350FF1"/>
                    </a:solidFill>
                  </a:rPr>
                  <a:t>rounds</a:t>
                </a:r>
                <a:r>
                  <a:rPr lang="zh-CN" altLang="en-US" sz="3200" dirty="0"/>
                  <a:t>：轮数</a:t>
                </a:r>
                <a:endParaRPr lang="zh-CN" altLang="en-US" sz="3200" dirty="0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633" y="4331846"/>
                <a:ext cx="5818664" cy="1877437"/>
              </a:xfrm>
              <a:prstGeom prst="rect">
                <a:avLst/>
              </a:prstGeom>
              <a:blipFill rotWithShape="1">
                <a:blip r:embed="rId2"/>
                <a:stretch>
                  <a:fillRect t="-27" r="3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1667" y="4094226"/>
            <a:ext cx="4762500" cy="235267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28715" y="6681470"/>
            <a:ext cx="10654665" cy="20078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3200" b="0" dirty="0"/>
              <a:t>对于</a:t>
            </a:r>
            <a:r>
              <a:rPr lang="en-US" altLang="zh-CN" sz="3200" b="0" dirty="0"/>
              <a:t>Skinny64 </a:t>
            </a:r>
            <a:r>
              <a:rPr lang="zh-CN" altLang="en-US" sz="3200" b="0" dirty="0"/>
              <a:t>，可调参数的长度取值为</a:t>
            </a:r>
            <a:r>
              <a:rPr lang="en-US" altLang="zh-CN" sz="3200" b="0" dirty="0"/>
              <a:t>64</a:t>
            </a:r>
            <a:r>
              <a:rPr lang="zh-CN" altLang="en-US" sz="3200" b="0" dirty="0"/>
              <a:t>、</a:t>
            </a:r>
            <a:r>
              <a:rPr lang="en-US" altLang="zh-CN" sz="3200" b="0" dirty="0"/>
              <a:t>128</a:t>
            </a:r>
            <a:r>
              <a:rPr lang="zh-CN" altLang="en-US" sz="3200" b="0" dirty="0"/>
              <a:t>或</a:t>
            </a:r>
            <a:r>
              <a:rPr lang="en-US" altLang="zh-CN" sz="3200" b="0" dirty="0"/>
              <a:t>192</a:t>
            </a:r>
            <a:r>
              <a:rPr lang="zh-CN" altLang="en-US" sz="3200" b="0" dirty="0"/>
              <a:t>比特；加密轮数分别为</a:t>
            </a:r>
            <a:r>
              <a:rPr lang="en-US" altLang="zh-CN" sz="3200" b="0" dirty="0"/>
              <a:t>32</a:t>
            </a:r>
            <a:r>
              <a:rPr lang="zh-CN" altLang="en-US" sz="3200" b="0" dirty="0"/>
              <a:t>、</a:t>
            </a:r>
            <a:r>
              <a:rPr lang="en-US" altLang="zh-CN" sz="3200" b="0" dirty="0"/>
              <a:t>36</a:t>
            </a:r>
            <a:r>
              <a:rPr lang="zh-CN" altLang="en-US" sz="3200" b="0" dirty="0"/>
              <a:t>、</a:t>
            </a:r>
            <a:r>
              <a:rPr lang="en-US" altLang="zh-CN" sz="3200" b="0" dirty="0"/>
              <a:t>40</a:t>
            </a:r>
            <a:r>
              <a:rPr lang="zh-CN" altLang="en-US" sz="3200" b="0" dirty="0"/>
              <a:t>轮。</a:t>
            </a:r>
            <a:endParaRPr lang="en-US" altLang="zh-CN" sz="3200" b="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3200" b="0" dirty="0"/>
              <a:t>对于</a:t>
            </a:r>
            <a:r>
              <a:rPr lang="en-US" altLang="zh-CN" sz="3200" b="0" dirty="0"/>
              <a:t>Skinny128, </a:t>
            </a:r>
            <a:r>
              <a:rPr lang="zh-CN" altLang="en-US" sz="3200" b="0" dirty="0"/>
              <a:t>可调参数的长度取值为</a:t>
            </a:r>
            <a:r>
              <a:rPr lang="en-US" altLang="zh-CN" sz="3200" b="0" dirty="0"/>
              <a:t>128</a:t>
            </a:r>
            <a:r>
              <a:rPr lang="zh-CN" altLang="en-US" sz="3200" b="0" dirty="0"/>
              <a:t>、</a:t>
            </a:r>
            <a:r>
              <a:rPr lang="en-US" altLang="zh-CN" sz="3200" b="0" dirty="0"/>
              <a:t>256</a:t>
            </a:r>
            <a:r>
              <a:rPr lang="zh-CN" altLang="en-US" sz="3200" b="0" dirty="0"/>
              <a:t>或</a:t>
            </a:r>
            <a:r>
              <a:rPr lang="en-US" altLang="zh-CN" sz="3200" b="0" dirty="0"/>
              <a:t>384</a:t>
            </a:r>
            <a:r>
              <a:rPr lang="zh-CN" altLang="en-US" sz="3200" b="0" dirty="0"/>
              <a:t>比特</a:t>
            </a:r>
            <a:r>
              <a:rPr lang="en-US" altLang="zh-CN" sz="3200" b="0" dirty="0"/>
              <a:t>.</a:t>
            </a:r>
            <a:r>
              <a:rPr lang="zh-CN" altLang="en-US" sz="3200" b="0" dirty="0"/>
              <a:t>加密轮数分别为</a:t>
            </a:r>
            <a:r>
              <a:rPr lang="en-US" altLang="zh-CN" sz="3200" b="0" dirty="0"/>
              <a:t>40</a:t>
            </a:r>
            <a:r>
              <a:rPr lang="zh-CN" altLang="en-US" sz="3200" b="0" dirty="0"/>
              <a:t>、</a:t>
            </a:r>
            <a:r>
              <a:rPr lang="en-US" altLang="zh-CN" sz="3200" b="0" dirty="0"/>
              <a:t>48</a:t>
            </a:r>
            <a:r>
              <a:rPr lang="zh-CN" altLang="en-US" sz="3200" b="0" dirty="0"/>
              <a:t>、</a:t>
            </a:r>
            <a:r>
              <a:rPr lang="en-US" altLang="zh-CN" sz="3200" b="0" dirty="0"/>
              <a:t>56</a:t>
            </a:r>
            <a:r>
              <a:rPr lang="zh-CN" altLang="en-US" sz="3200" b="0" dirty="0"/>
              <a:t>轮</a:t>
            </a:r>
            <a:r>
              <a:rPr lang="zh-CN" altLang="en-US" sz="2800" dirty="0"/>
              <a:t>。</a:t>
            </a:r>
            <a:endParaRPr lang="zh-CN" altLang="en-US" sz="2800" dirty="0"/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 bwMode="auto">
          <a:xfrm>
            <a:off x="1030633" y="459200"/>
            <a:ext cx="7559999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b" anchorCtr="0" compatLnSpc="1"/>
          <a:lstStyle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6000" kern="120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 Neue Medium" charset="0"/>
              </a:defRPr>
            </a:lvl1pPr>
            <a:lvl2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2pPr>
            <a:lvl3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3pPr>
            <a:lvl4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4pPr>
            <a:lvl5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5pPr>
            <a:lvl6pPr marL="4572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6pPr>
            <a:lvl7pPr marL="9144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7pPr>
            <a:lvl8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8pPr>
            <a:lvl9pPr marL="18288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9pPr>
          </a:lstStyle>
          <a:p>
            <a:pPr algn="l" eaLnBrk="1">
              <a:defRPr/>
            </a:pPr>
            <a:r>
              <a:rPr lang="en-US" altLang="zh-CN" sz="5400" dirty="0">
                <a:solidFill>
                  <a:srgbClr val="008000"/>
                </a:solidFill>
                <a:latin typeface="+mn-ea"/>
                <a:ea typeface="+mn-ea"/>
                <a:cs typeface="Times New Roman" panose="02020603050405020304" pitchFamily="18" charset="0"/>
              </a:rPr>
              <a:t>6.1 Skinny</a:t>
            </a:r>
            <a:r>
              <a:rPr lang="zh-CN" altLang="en-US" sz="5400" dirty="0">
                <a:solidFill>
                  <a:srgbClr val="008000"/>
                </a:solidFill>
                <a:latin typeface="+mn-ea"/>
                <a:ea typeface="+mn-ea"/>
                <a:cs typeface="Times New Roman" panose="02020603050405020304" pitchFamily="18" charset="0"/>
              </a:rPr>
              <a:t>算法族简介</a:t>
            </a:r>
            <a:endParaRPr lang="zh-CN" altLang="zh-CN" sz="5400" dirty="0">
              <a:solidFill>
                <a:srgbClr val="008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0" y="1420416"/>
            <a:ext cx="13004800" cy="360040"/>
          </a:xfrm>
          <a:prstGeom prst="rect">
            <a:avLst/>
          </a:prstGeom>
          <a:solidFill>
            <a:srgbClr val="008000"/>
          </a:solidFill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50800" tIns="50800" rIns="50800" bIns="50800" numCol="1" rtlCol="0" anchor="ctr" anchorCtr="0" compatLnSpc="1"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3390" y="1924050"/>
            <a:ext cx="10342245" cy="824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600" b="0" dirty="0"/>
              <a:t>Skinny</a:t>
            </a:r>
            <a:r>
              <a:rPr lang="zh-CN" altLang="en-US" sz="3600" b="0" dirty="0"/>
              <a:t>算法族的</a:t>
            </a:r>
            <a:r>
              <a:rPr lang="zh-CN" altLang="en-US" sz="3600" dirty="0">
                <a:solidFill>
                  <a:srgbClr val="350FF1"/>
                </a:solidFill>
              </a:rPr>
              <a:t>加密结构</a:t>
            </a:r>
            <a:r>
              <a:rPr lang="zh-CN" altLang="en-US" sz="3600" b="0" dirty="0"/>
              <a:t>基本</a:t>
            </a:r>
            <a:r>
              <a:rPr lang="zh-CN" altLang="en-US" sz="3600" dirty="0">
                <a:solidFill>
                  <a:srgbClr val="350FF1"/>
                </a:solidFill>
              </a:rPr>
              <a:t>相同：</a:t>
            </a:r>
            <a:endParaRPr lang="zh-CN" altLang="en-US" sz="3600" b="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2535" y="3237230"/>
            <a:ext cx="4943475" cy="20764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503381" y="3199447"/>
                <a:ext cx="7433945" cy="236410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zh-CN" altLang="en-US" sz="3200" b="0" dirty="0"/>
                  <a:t>对于</a:t>
                </a:r>
                <a:r>
                  <a:rPr lang="en-US" altLang="zh-CN" sz="3200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en-US" sz="3200" b="0" dirty="0"/>
                  <a:t>比特的明文</a:t>
                </a:r>
                <a14:m>
                  <m:oMath xmlns:m="http://schemas.openxmlformats.org/officeDocument/2006/math">
                    <m:r>
                      <a:rPr lang="en-US" altLang="zh-CN" sz="3200" b="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3200" b="0" dirty="0"/>
                  <a:t>，将其化分为</a:t>
                </a:r>
                <a:endParaRPr lang="en-US" altLang="zh-CN" sz="3200" b="0" dirty="0"/>
              </a:p>
              <a:p>
                <a:pPr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3200" b="0" i="1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b="0" i="1">
                              <a:solidFill>
                                <a:srgbClr val="350FF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>
                              <a:solidFill>
                                <a:srgbClr val="350FF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3200" b="0" i="1">
                              <a:solidFill>
                                <a:srgbClr val="350FF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3200" b="0" i="1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||</m:t>
                      </m:r>
                      <m:sSub>
                        <m:sSubPr>
                          <m:ctrlPr>
                            <a:rPr lang="en-US" altLang="zh-CN" sz="3200" b="0" i="1">
                              <a:solidFill>
                                <a:srgbClr val="350FF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>
                              <a:solidFill>
                                <a:srgbClr val="350FF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3200" b="0" i="1">
                              <a:solidFill>
                                <a:srgbClr val="350FF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200" b="0" i="1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|| ... || </m:t>
                      </m:r>
                      <m:sSub>
                        <m:sSubPr>
                          <m:ctrlPr>
                            <a:rPr lang="en-US" altLang="zh-CN" sz="3200" b="0" i="1">
                              <a:solidFill>
                                <a:srgbClr val="350FF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>
                              <a:solidFill>
                                <a:srgbClr val="350FF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3200" b="0" i="1">
                              <a:solidFill>
                                <a:srgbClr val="350FF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15</m:t>
                          </m:r>
                        </m:sub>
                      </m:sSub>
                    </m:oMath>
                  </m:oMathPara>
                </a14:m>
                <a:endParaRPr lang="en-US" altLang="zh-CN" sz="3200" b="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zh-CN" altLang="en-US" sz="3200" b="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2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3200" b="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是</a:t>
                </a:r>
                <a:r>
                  <a:rPr lang="en-US" altLang="zh-CN" sz="3200" b="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s</a:t>
                </a:r>
                <a:r>
                  <a:rPr lang="zh-CN" altLang="en-US" sz="3200" b="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比特字</a:t>
                </a:r>
                <a:r>
                  <a:rPr lang="en-US" altLang="zh-CN" sz="3200" b="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</a:t>
                </a:r>
                <a:endParaRPr lang="en-US" altLang="zh-CN" sz="3200" b="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zh-CN" altLang="en-US" sz="3200" b="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3200" b="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  <m:r>
                      <a:rPr lang="en-US" altLang="zh-CN" sz="3200" b="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64</m:t>
                    </m:r>
                    <m:r>
                      <a:rPr lang="en-US" altLang="zh-CN" sz="3200" b="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sz="3200" b="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𝑠</m:t>
                    </m:r>
                    <m:r>
                      <a:rPr lang="en-US" altLang="zh-CN" sz="3200" b="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r>
                      <a:rPr lang="en-US" altLang="zh-CN" sz="3200" b="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; 当</m:t>
                    </m:r>
                    <m:r>
                      <a:rPr lang="en-US" altLang="zh-CN" sz="3200" b="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  <m:r>
                      <a:rPr lang="en-US" altLang="zh-CN" sz="3200" b="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128</m:t>
                    </m:r>
                    <m:r>
                      <a:rPr lang="en-US" altLang="zh-CN" sz="3200" b="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sz="3200" b="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𝑠</m:t>
                    </m:r>
                    <m:r>
                      <a:rPr lang="en-US" altLang="zh-CN" sz="3200" b="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8</m:t>
                    </m:r>
                    <m:r>
                      <a:rPr lang="en-US" altLang="zh-CN" sz="3200" b="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3200" b="0" i="1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381" y="3199447"/>
                <a:ext cx="7433945" cy="2364105"/>
              </a:xfrm>
              <a:prstGeom prst="rect">
                <a:avLst/>
              </a:prstGeom>
              <a:blipFill rotWithShape="1">
                <a:blip r:embed="rId2"/>
                <a:stretch>
                  <a:fillRect l="-6" t="-13" r="6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/>
          <p:cNvGrpSpPr/>
          <p:nvPr/>
        </p:nvGrpSpPr>
        <p:grpSpPr>
          <a:xfrm>
            <a:off x="237704" y="6052276"/>
            <a:ext cx="12143740" cy="2599055"/>
            <a:chOff x="309245" y="5956935"/>
            <a:chExt cx="12143740" cy="2599055"/>
          </a:xfrm>
        </p:grpSpPr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9245" y="6100445"/>
              <a:ext cx="12143740" cy="2455545"/>
            </a:xfrm>
            <a:prstGeom prst="rect">
              <a:avLst/>
            </a:prstGeom>
          </p:spPr>
        </p:pic>
        <p:sp>
          <p:nvSpPr>
            <p:cNvPr id="42" name="文本框 41"/>
            <p:cNvSpPr txBox="1"/>
            <p:nvPr/>
          </p:nvSpPr>
          <p:spPr>
            <a:xfrm>
              <a:off x="525780" y="5956935"/>
              <a:ext cx="191833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/>
                <a:t>轮函数</a:t>
              </a:r>
              <a:r>
                <a:rPr lang="en-US" altLang="zh-CN" sz="3200" dirty="0"/>
                <a:t>:</a:t>
              </a:r>
              <a:endParaRPr lang="en-US" altLang="zh-CN" sz="3200" dirty="0"/>
            </a:p>
          </p:txBody>
        </p:sp>
      </p:grpSp>
      <p:sp>
        <p:nvSpPr>
          <p:cNvPr id="8" name="Rectangle 1"/>
          <p:cNvSpPr txBox="1">
            <a:spLocks noChangeArrowheads="1"/>
          </p:cNvSpPr>
          <p:nvPr/>
        </p:nvSpPr>
        <p:spPr bwMode="auto">
          <a:xfrm>
            <a:off x="1030633" y="459200"/>
            <a:ext cx="7559999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b" anchorCtr="0" compatLnSpc="1"/>
          <a:lstStyle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6000" kern="120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 Neue Medium" charset="0"/>
              </a:defRPr>
            </a:lvl1pPr>
            <a:lvl2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2pPr>
            <a:lvl3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3pPr>
            <a:lvl4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4pPr>
            <a:lvl5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5pPr>
            <a:lvl6pPr marL="4572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6pPr>
            <a:lvl7pPr marL="9144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7pPr>
            <a:lvl8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8pPr>
            <a:lvl9pPr marL="18288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9pPr>
          </a:lstStyle>
          <a:p>
            <a:pPr algn="l" eaLnBrk="1">
              <a:defRPr/>
            </a:pPr>
            <a:r>
              <a:rPr lang="en-US" altLang="zh-CN" sz="5400" dirty="0">
                <a:solidFill>
                  <a:srgbClr val="008000"/>
                </a:solidFill>
                <a:latin typeface="+mn-ea"/>
                <a:ea typeface="+mn-ea"/>
                <a:cs typeface="Times New Roman" panose="02020603050405020304" pitchFamily="18" charset="0"/>
              </a:rPr>
              <a:t>6.1 Skinny</a:t>
            </a:r>
            <a:r>
              <a:rPr lang="zh-CN" altLang="en-US" sz="5400" dirty="0">
                <a:solidFill>
                  <a:srgbClr val="008000"/>
                </a:solidFill>
                <a:latin typeface="+mn-ea"/>
                <a:ea typeface="+mn-ea"/>
                <a:cs typeface="Times New Roman" panose="02020603050405020304" pitchFamily="18" charset="0"/>
              </a:rPr>
              <a:t>算法族简介</a:t>
            </a:r>
            <a:endParaRPr lang="zh-CN" altLang="zh-CN" sz="5400" dirty="0">
              <a:solidFill>
                <a:srgbClr val="008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0" y="1420416"/>
            <a:ext cx="13004800" cy="360040"/>
          </a:xfrm>
          <a:prstGeom prst="rect">
            <a:avLst/>
          </a:prstGeom>
          <a:solidFill>
            <a:srgbClr val="008000"/>
          </a:solidFill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50800" tIns="50800" rIns="50800" bIns="50800" numCol="1" rtlCol="0" anchor="ctr" anchorCtr="0" compatLnSpc="1"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" name="Rectangle 1"/>
          <p:cNvSpPr txBox="1">
            <a:spLocks noChangeArrowheads="1"/>
          </p:cNvSpPr>
          <p:nvPr/>
        </p:nvSpPr>
        <p:spPr bwMode="auto">
          <a:xfrm>
            <a:off x="1030633" y="459200"/>
            <a:ext cx="8640119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b" anchorCtr="0" compatLnSpc="1"/>
          <a:lstStyle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6000" kern="120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 Neue Medium" charset="0"/>
              </a:defRPr>
            </a:lvl1pPr>
            <a:lvl2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2pPr>
            <a:lvl3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3pPr>
            <a:lvl4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4pPr>
            <a:lvl5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5pPr>
            <a:lvl6pPr marL="4572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6pPr>
            <a:lvl7pPr marL="9144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7pPr>
            <a:lvl8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8pPr>
            <a:lvl9pPr marL="18288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9pPr>
          </a:lstStyle>
          <a:p>
            <a:pPr algn="l" eaLnBrk="1">
              <a:defRPr/>
            </a:pPr>
            <a:r>
              <a:rPr lang="en-US" altLang="zh-CN" sz="5400" dirty="0">
                <a:solidFill>
                  <a:srgbClr val="008000"/>
                </a:solidFill>
                <a:latin typeface="+mn-ea"/>
                <a:ea typeface="+mn-ea"/>
                <a:cs typeface="Times New Roman" panose="02020603050405020304" pitchFamily="18" charset="0"/>
              </a:rPr>
              <a:t>6.1 Skinny</a:t>
            </a:r>
            <a:r>
              <a:rPr lang="zh-CN" altLang="en-US" sz="5400" dirty="0">
                <a:solidFill>
                  <a:srgbClr val="008000"/>
                </a:solidFill>
                <a:latin typeface="+mn-ea"/>
                <a:ea typeface="+mn-ea"/>
                <a:cs typeface="Times New Roman" panose="02020603050405020304" pitchFamily="18" charset="0"/>
              </a:rPr>
              <a:t>算法族子部件</a:t>
            </a:r>
            <a:endParaRPr lang="zh-CN" altLang="zh-CN" sz="5400" dirty="0">
              <a:solidFill>
                <a:srgbClr val="008000"/>
              </a:solidFill>
              <a:latin typeface="+mn-ea"/>
              <a:ea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530" y="2013803"/>
            <a:ext cx="12143740" cy="245554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05756" y="4702695"/>
            <a:ext cx="11593288" cy="183972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</a:t>
            </a: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</a:t>
            </a:r>
            <a:r>
              <a:rPr lang="en-US" altLang="zh-CN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：字替代，对</a:t>
            </a:r>
            <a:r>
              <a:rPr lang="en-US" altLang="zh-CN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r>
              <a:rPr lang="zh-CN" altLang="en-US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个字进行</a:t>
            </a:r>
            <a:r>
              <a:rPr lang="en-US" altLang="zh-CN" sz="3600" dirty="0">
                <a:solidFill>
                  <a:srgbClr val="350F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r>
              <a:rPr lang="zh-CN" altLang="en-US" sz="3600" dirty="0">
                <a:solidFill>
                  <a:srgbClr val="350F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盒替代</a:t>
            </a:r>
            <a:r>
              <a:rPr lang="zh-CN" altLang="en-US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。其中</a:t>
            </a:r>
            <a:r>
              <a:rPr lang="en-US" altLang="zh-CN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SKinny64</a:t>
            </a:r>
            <a:r>
              <a:rPr lang="zh-CN" altLang="en-US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</a:t>
            </a:r>
            <a:r>
              <a:rPr lang="en-US" altLang="zh-CN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比特</a:t>
            </a:r>
            <a:r>
              <a:rPr lang="en-US" altLang="zh-CN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r>
              <a:rPr lang="zh-CN" altLang="en-US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盒，</a:t>
            </a:r>
            <a:r>
              <a:rPr lang="en-US" altLang="zh-CN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Skinny128</a:t>
            </a:r>
            <a:r>
              <a:rPr lang="zh-CN" altLang="en-US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</a:t>
            </a:r>
            <a:r>
              <a:rPr lang="en-US" altLang="zh-CN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比特</a:t>
            </a:r>
            <a:r>
              <a:rPr lang="en-US" altLang="zh-CN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r>
              <a:rPr lang="zh-CN" altLang="en-US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盒。</a:t>
            </a:r>
            <a:endParaRPr lang="zh-CN" altLang="en-US" sz="40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719" y="6965030"/>
            <a:ext cx="8181975" cy="183832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1092076" y="7591806"/>
            <a:ext cx="24641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4</a:t>
            </a:r>
            <a:r>
              <a:rPr lang="zh-CN" altLang="en-US" sz="3200" dirty="0">
                <a:solidFill>
                  <a:srgbClr val="FF0000"/>
                </a:solidFill>
              </a:rPr>
              <a:t>比特真值表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430530" y="2356520"/>
            <a:ext cx="2543478" cy="2232248"/>
          </a:xfrm>
          <a:prstGeom prst="rect">
            <a:avLst/>
          </a:prstGeom>
          <a:ln w="38100">
            <a:solidFill>
              <a:srgbClr val="FF0000"/>
            </a:solidFill>
            <a:prstDash val="dashDot"/>
            <a:headEnd type="none" w="med" len="med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0" y="1420416"/>
            <a:ext cx="13004800" cy="360040"/>
          </a:xfrm>
          <a:prstGeom prst="rect">
            <a:avLst/>
          </a:prstGeom>
          <a:solidFill>
            <a:srgbClr val="008000"/>
          </a:solidFill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50800" tIns="50800" rIns="50800" bIns="50800" numCol="1" rtlCol="0" anchor="ctr" anchorCtr="0" compatLnSpc="1"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" name="Rectangle 1"/>
          <p:cNvSpPr txBox="1">
            <a:spLocks noChangeArrowheads="1"/>
          </p:cNvSpPr>
          <p:nvPr/>
        </p:nvSpPr>
        <p:spPr bwMode="auto">
          <a:xfrm>
            <a:off x="1030633" y="459200"/>
            <a:ext cx="8640119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b" anchorCtr="0" compatLnSpc="1"/>
          <a:lstStyle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6000" kern="120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 Neue Medium" charset="0"/>
              </a:defRPr>
            </a:lvl1pPr>
            <a:lvl2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2pPr>
            <a:lvl3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3pPr>
            <a:lvl4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4pPr>
            <a:lvl5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5pPr>
            <a:lvl6pPr marL="4572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6pPr>
            <a:lvl7pPr marL="9144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7pPr>
            <a:lvl8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8pPr>
            <a:lvl9pPr marL="18288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9pPr>
          </a:lstStyle>
          <a:p>
            <a:pPr algn="l" eaLnBrk="1">
              <a:defRPr/>
            </a:pPr>
            <a:r>
              <a:rPr lang="en-US" altLang="zh-CN" sz="5400" dirty="0">
                <a:solidFill>
                  <a:srgbClr val="008000"/>
                </a:solidFill>
                <a:latin typeface="+mn-ea"/>
                <a:ea typeface="+mn-ea"/>
                <a:cs typeface="Times New Roman" panose="02020603050405020304" pitchFamily="18" charset="0"/>
              </a:rPr>
              <a:t>6.1 Skinny</a:t>
            </a:r>
            <a:r>
              <a:rPr lang="zh-CN" altLang="en-US" sz="5400" dirty="0">
                <a:solidFill>
                  <a:srgbClr val="008000"/>
                </a:solidFill>
                <a:latin typeface="+mn-ea"/>
                <a:ea typeface="+mn-ea"/>
                <a:cs typeface="Times New Roman" panose="02020603050405020304" pitchFamily="18" charset="0"/>
              </a:rPr>
              <a:t>算法族子部件</a:t>
            </a:r>
            <a:endParaRPr lang="zh-CN" altLang="zh-CN" sz="5400" dirty="0">
              <a:solidFill>
                <a:srgbClr val="008000"/>
              </a:solidFill>
              <a:latin typeface="+mn-ea"/>
              <a:ea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05756" y="2053788"/>
            <a:ext cx="11593288" cy="183972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Skinny</a:t>
            </a:r>
            <a:r>
              <a:rPr lang="zh-CN" altLang="en-US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</a:t>
            </a:r>
            <a:r>
              <a:rPr lang="en-US" altLang="zh-CN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r>
              <a:rPr lang="zh-CN" altLang="en-US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盒分别采用</a:t>
            </a:r>
            <a:r>
              <a:rPr lang="en-US" altLang="zh-CN" sz="3600" dirty="0">
                <a:solidFill>
                  <a:srgbClr val="350F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3600" dirty="0">
                <a:solidFill>
                  <a:srgbClr val="350F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分支和</a:t>
            </a:r>
            <a:r>
              <a:rPr lang="en-US" altLang="zh-CN" sz="3600" dirty="0">
                <a:solidFill>
                  <a:srgbClr val="350F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3600" dirty="0">
                <a:solidFill>
                  <a:srgbClr val="350F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分支的广义</a:t>
            </a:r>
            <a:r>
              <a:rPr lang="en-US" altLang="zh-CN" sz="3600" dirty="0">
                <a:solidFill>
                  <a:srgbClr val="350F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Feistel</a:t>
            </a:r>
            <a:r>
              <a:rPr lang="zh-CN" altLang="en-US" sz="3600" dirty="0">
                <a:solidFill>
                  <a:srgbClr val="350F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</a:t>
            </a:r>
            <a:r>
              <a:rPr lang="zh-CN" altLang="en-US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进行构造，迭代轮数均为</a:t>
            </a:r>
            <a:r>
              <a:rPr lang="en-US" altLang="zh-CN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轮。</a:t>
            </a:r>
            <a:endParaRPr lang="zh-CN" altLang="en-US" sz="40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712" y="3808828"/>
            <a:ext cx="4464496" cy="459025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424" y="4876800"/>
            <a:ext cx="4356484" cy="469326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756" y="8405192"/>
            <a:ext cx="4608512" cy="4004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152" y="3997881"/>
            <a:ext cx="8208912" cy="42905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0152" y="4433047"/>
            <a:ext cx="5976663" cy="31069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0" y="1420416"/>
            <a:ext cx="13004800" cy="360040"/>
          </a:xfrm>
          <a:prstGeom prst="rect">
            <a:avLst/>
          </a:prstGeom>
          <a:solidFill>
            <a:srgbClr val="008000"/>
          </a:solidFill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50800" tIns="50800" rIns="50800" bIns="50800" numCol="1" rtlCol="0" anchor="ctr" anchorCtr="0" compatLnSpc="1"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" name="Rectangle 1"/>
          <p:cNvSpPr txBox="1">
            <a:spLocks noChangeArrowheads="1"/>
          </p:cNvSpPr>
          <p:nvPr/>
        </p:nvSpPr>
        <p:spPr bwMode="auto">
          <a:xfrm>
            <a:off x="1030633" y="459200"/>
            <a:ext cx="8640119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b" anchorCtr="0" compatLnSpc="1"/>
          <a:lstStyle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6000" kern="120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 Neue Medium" charset="0"/>
              </a:defRPr>
            </a:lvl1pPr>
            <a:lvl2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2pPr>
            <a:lvl3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3pPr>
            <a:lvl4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4pPr>
            <a:lvl5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5pPr>
            <a:lvl6pPr marL="4572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6pPr>
            <a:lvl7pPr marL="9144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7pPr>
            <a:lvl8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8pPr>
            <a:lvl9pPr marL="18288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9pPr>
          </a:lstStyle>
          <a:p>
            <a:pPr algn="l" eaLnBrk="1">
              <a:defRPr/>
            </a:pPr>
            <a:r>
              <a:rPr lang="en-US" altLang="zh-CN" sz="5400" dirty="0">
                <a:solidFill>
                  <a:srgbClr val="008000"/>
                </a:solidFill>
                <a:latin typeface="+mn-ea"/>
                <a:ea typeface="+mn-ea"/>
                <a:cs typeface="Times New Roman" panose="02020603050405020304" pitchFamily="18" charset="0"/>
              </a:rPr>
              <a:t>6.1 Skinny</a:t>
            </a:r>
            <a:r>
              <a:rPr lang="zh-CN" altLang="en-US" sz="5400" dirty="0">
                <a:solidFill>
                  <a:srgbClr val="008000"/>
                </a:solidFill>
                <a:latin typeface="+mn-ea"/>
                <a:ea typeface="+mn-ea"/>
                <a:cs typeface="Times New Roman" panose="02020603050405020304" pitchFamily="18" charset="0"/>
              </a:rPr>
              <a:t>算法族子部件</a:t>
            </a:r>
            <a:endParaRPr lang="zh-CN" altLang="zh-CN" sz="5400" dirty="0">
              <a:solidFill>
                <a:srgbClr val="008000"/>
              </a:solidFill>
              <a:latin typeface="+mn-ea"/>
              <a:ea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530" y="2013803"/>
            <a:ext cx="12143740" cy="245554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705756" y="4702695"/>
                <a:ext cx="11593288" cy="183972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571500" indent="-571500" algn="ju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sz="36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AC</a:t>
                </a:r>
                <a:r>
                  <a:rPr lang="zh-CN" altLang="en-US" sz="36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操作</a:t>
                </a:r>
                <a:r>
                  <a:rPr lang="en-US" altLang="zh-CN" sz="36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</a:t>
                </a:r>
                <a:r>
                  <a:rPr lang="zh-CN" altLang="en-US" sz="3600" b="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：异或轮常量，将常数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b="0" i="1" smtClean="0">
                            <a:latin typeface="Cambria Math" panose="02040503050406030204" pitchFamily="18" charset="0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sSubPr>
                      <m:e>
                        <m:r>
                          <a:rPr lang="en-US" altLang="zh-CN" sz="3600" b="0" i="1" smtClean="0">
                            <a:latin typeface="Cambria Math" panose="02040503050406030204" pitchFamily="18" charset="0"/>
                            <a:ea typeface="微软雅黑" panose="020B0503020204020204" charset="-122"/>
                            <a:cs typeface="微软雅黑" panose="020B0503020204020204" charset="-122"/>
                          </a:rPr>
                          <m:t>𝑐</m:t>
                        </m:r>
                      </m:e>
                      <m:sub>
                        <m:r>
                          <a:rPr lang="en-US" altLang="zh-CN" sz="3600" b="0" i="1" smtClean="0">
                            <a:latin typeface="Cambria Math" panose="02040503050406030204" pitchFamily="18" charset="0"/>
                            <a:ea typeface="微软雅黑" panose="020B0503020204020204" charset="-122"/>
                            <a:cs typeface="微软雅黑" panose="020B0503020204020204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600" b="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b="0" i="1" dirty="0" smtClean="0"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</m:ctrlPr>
                      </m:sSubPr>
                      <m:e>
                        <m:r>
                          <a:rPr lang="en-US" altLang="zh-CN" sz="3600" b="0" i="1" dirty="0" smtClean="0"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𝑐</m:t>
                        </m:r>
                      </m:e>
                      <m:sub>
                        <m:r>
                          <a:rPr lang="en-US" altLang="zh-CN" sz="3600" b="0" i="1" dirty="0" smtClean="0"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3600" b="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b="0" i="1" smtClean="0">
                            <a:latin typeface="Cambria Math" panose="02040503050406030204" pitchFamily="18" charset="0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sSubPr>
                      <m:e>
                        <m:r>
                          <a:rPr lang="en-US" altLang="zh-CN" sz="3600" b="0" i="1" smtClean="0">
                            <a:latin typeface="Cambria Math" panose="02040503050406030204" pitchFamily="18" charset="0"/>
                            <a:ea typeface="微软雅黑" panose="020B0503020204020204" charset="-122"/>
                            <a:cs typeface="微软雅黑" panose="020B0503020204020204" charset="-122"/>
                          </a:rPr>
                          <m:t>𝑐</m:t>
                        </m:r>
                      </m:e>
                      <m:sub>
                        <m:r>
                          <a:rPr lang="en-US" altLang="zh-CN" sz="3600" b="0" i="1" smtClean="0">
                            <a:latin typeface="Cambria Math" panose="02040503050406030204" pitchFamily="18" charset="0"/>
                            <a:ea typeface="微软雅黑" panose="020B0503020204020204" charset="-122"/>
                            <a:cs typeface="微软雅黑" panose="020B050302020402020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600" b="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分别与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b="0" i="1" smtClean="0">
                            <a:latin typeface="Cambria Math" panose="02040503050406030204" pitchFamily="18" charset="0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sSubPr>
                      <m:e>
                        <m:r>
                          <a:rPr lang="en-US" altLang="zh-CN" sz="3600" b="0" i="1" smtClean="0">
                            <a:latin typeface="Cambria Math" panose="02040503050406030204" pitchFamily="18" charset="0"/>
                            <a:ea typeface="微软雅黑" panose="020B0503020204020204" charset="-122"/>
                            <a:cs typeface="微软雅黑" panose="020B0503020204020204" charset="-122"/>
                          </a:rPr>
                          <m:t>𝑚</m:t>
                        </m:r>
                      </m:e>
                      <m:sub>
                        <m:r>
                          <a:rPr lang="en-US" altLang="zh-CN" sz="3600" b="0" i="1" smtClean="0">
                            <a:latin typeface="Cambria Math" panose="02040503050406030204" pitchFamily="18" charset="0"/>
                            <a:ea typeface="微软雅黑" panose="020B0503020204020204" charset="-122"/>
                            <a:cs typeface="微软雅黑" panose="020B0503020204020204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600" b="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b="0" i="1" dirty="0" smtClean="0"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</m:ctrlPr>
                      </m:sSubPr>
                      <m:e>
                        <m:r>
                          <a:rPr lang="en-US" altLang="zh-CN" sz="3600" b="0" i="1" dirty="0" smtClean="0"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𝑚</m:t>
                        </m:r>
                      </m:e>
                      <m:sub>
                        <m:r>
                          <a:rPr lang="en-US" altLang="zh-CN" sz="3600" b="0" i="1" dirty="0" smtClean="0"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CN" altLang="en-US" sz="3600" b="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b="0" i="1" dirty="0" smtClean="0">
                            <a:latin typeface="Cambria Math" panose="02040503050406030204" pitchFamily="18" charset="0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sSubPr>
                      <m:e>
                        <m:r>
                          <a:rPr lang="en-US" altLang="zh-CN" sz="3600" b="0" i="1" dirty="0" smtClean="0">
                            <a:latin typeface="Cambria Math" panose="02040503050406030204" pitchFamily="18" charset="0"/>
                            <a:ea typeface="微软雅黑" panose="020B0503020204020204" charset="-122"/>
                            <a:cs typeface="微软雅黑" panose="020B0503020204020204" charset="-122"/>
                          </a:rPr>
                          <m:t>𝑚</m:t>
                        </m:r>
                      </m:e>
                      <m:sub>
                        <m:r>
                          <a:rPr lang="en-US" altLang="zh-CN" sz="3600" b="0" i="1" dirty="0" smtClean="0">
                            <a:latin typeface="Cambria Math" panose="02040503050406030204" pitchFamily="18" charset="0"/>
                            <a:ea typeface="微软雅黑" panose="020B0503020204020204" charset="-122"/>
                            <a:cs typeface="微软雅黑" panose="020B0503020204020204" charset="-122"/>
                          </a:rPr>
                          <m:t>8</m:t>
                        </m:r>
                      </m:sub>
                    </m:sSub>
                  </m:oMath>
                </a14:m>
                <a:r>
                  <a:rPr lang="zh-CN" altLang="en-US" sz="3600" b="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进行异或。</a:t>
                </a:r>
                <a:endParaRPr lang="zh-CN" altLang="en-US" sz="4000" b="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756" y="4702695"/>
                <a:ext cx="11593288" cy="1839723"/>
              </a:xfrm>
              <a:prstGeom prst="rect">
                <a:avLst/>
              </a:prstGeom>
              <a:blipFill rotWithShape="1">
                <a:blip r:embed="rId2"/>
                <a:stretch>
                  <a:fillRect l="-2" t="-28" r="3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 bwMode="auto">
          <a:xfrm>
            <a:off x="2902000" y="2203068"/>
            <a:ext cx="2664296" cy="2232248"/>
          </a:xfrm>
          <a:prstGeom prst="rect">
            <a:avLst/>
          </a:prstGeom>
          <a:ln w="38100">
            <a:solidFill>
              <a:srgbClr val="FF0000"/>
            </a:solidFill>
            <a:prstDash val="dashDot"/>
            <a:headEnd type="none" w="med" len="med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0662" y="6542418"/>
            <a:ext cx="4943475" cy="207645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 bwMode="auto">
          <a:xfrm>
            <a:off x="5333998" y="6775765"/>
            <a:ext cx="647652" cy="1269387"/>
          </a:xfrm>
          <a:prstGeom prst="rect">
            <a:avLst/>
          </a:prstGeom>
          <a:ln w="38100">
            <a:solidFill>
              <a:srgbClr val="350FF1"/>
            </a:solidFill>
            <a:headEnd type="none" w="med" len="med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0" y="1420416"/>
            <a:ext cx="13004800" cy="360040"/>
          </a:xfrm>
          <a:prstGeom prst="rect">
            <a:avLst/>
          </a:prstGeom>
          <a:solidFill>
            <a:srgbClr val="008000"/>
          </a:solidFill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50800" tIns="50800" rIns="50800" bIns="50800" numCol="1" rtlCol="0" anchor="ctr" anchorCtr="0" compatLnSpc="1"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885825" y="2356485"/>
                <a:ext cx="11088370" cy="57238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sz="3600" b="0" dirty="0"/>
                  <a:t>Skinny n/</a:t>
                </a:r>
                <a:r>
                  <a:rPr lang="en-US" altLang="zh-CN" sz="3600" b="0" dirty="0" err="1"/>
                  <a:t>t</a:t>
                </a:r>
                <a:r>
                  <a:rPr lang="en-US" altLang="zh-CN" sz="3600" b="0" dirty="0"/>
                  <a:t> </a:t>
                </a:r>
                <a:r>
                  <a:rPr lang="zh-CN" altLang="en-US" sz="3600" b="0" dirty="0">
                    <a:sym typeface="+mn-ea"/>
                  </a:rPr>
                  <a:t>轮常量</a:t>
                </a:r>
                <a:r>
                  <a:rPr lang="zh-CN" altLang="en-US" sz="3600" b="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由</a:t>
                </a:r>
                <a:r>
                  <a:rPr lang="en-US" altLang="zh-CN" sz="3600" dirty="0">
                    <a:solidFill>
                      <a:srgbClr val="350FF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6</a:t>
                </a:r>
                <a:r>
                  <a:rPr lang="zh-CN" altLang="en-US" sz="3600" dirty="0">
                    <a:solidFill>
                      <a:srgbClr val="350FF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比特线性移位寄存器</a:t>
                </a:r>
                <a:r>
                  <a:rPr lang="zh-CN" altLang="en-US" sz="3600" b="0" dirty="0">
                    <a:sym typeface="+mn-ea"/>
                  </a:rPr>
                  <a:t>生成</a:t>
                </a:r>
                <a:r>
                  <a:rPr lang="zh-CN" altLang="en-US" sz="3600" b="0" dirty="0"/>
                  <a:t>：</a:t>
                </a:r>
                <a:endParaRPr lang="en-US" altLang="zh-CN" sz="3600" b="0" dirty="0"/>
              </a:p>
              <a:p>
                <a:pPr marL="1028700" lvl="1" indent="-57150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sz="3600" b="0" dirty="0"/>
                  <a:t>寄存器初始化：</a:t>
                </a:r>
                <a:endParaRPr lang="en-US" altLang="zh-CN" sz="3600" b="0" dirty="0"/>
              </a:p>
              <a:p>
                <a:pPr lvl="1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360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6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𝒓𝒄</m:t>
                              </m:r>
                            </m:e>
                            <m:sub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  <m:r>
                            <a:rPr lang="en-US" altLang="zh-CN" sz="36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6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𝒓𝒄</m:t>
                              </m:r>
                            </m:e>
                            <m:sub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  <m:r>
                            <a:rPr lang="en-US" altLang="zh-CN" sz="36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6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𝒓𝒄</m:t>
                              </m:r>
                            </m:e>
                            <m:sub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altLang="zh-CN" sz="36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6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𝒓𝒄</m:t>
                              </m:r>
                            </m:e>
                            <m:sub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36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6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𝒓𝒄</m:t>
                              </m:r>
                            </m:e>
                            <m:sub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36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6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𝒓𝒄</m:t>
                              </m:r>
                            </m:e>
                            <m:sub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n-US" altLang="zh-CN" sz="3600" b="1" i="1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=(</m:t>
                      </m:r>
                      <m:r>
                        <a:rPr lang="en-US" altLang="zh-CN" sz="3600" b="1" i="1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3600" b="1" i="1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3600" b="1" i="1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3600" b="1" i="1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3600" b="1" i="1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3600" b="1" i="1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3600" b="1" i="1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3600" b="1" i="1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3600" b="1" i="1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3600" b="1" i="1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3600" b="1" i="1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3600" b="1" i="1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3600" b="0" dirty="0"/>
              </a:p>
              <a:p>
                <a:pPr marL="1028700" lvl="1" indent="-57150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sz="3600" b="0" dirty="0"/>
                  <a:t>寄存器更新：</a:t>
                </a:r>
                <a:endParaRPr lang="en-US" altLang="zh-CN" sz="2800" i="1" dirty="0">
                  <a:solidFill>
                    <a:srgbClr val="C00000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lvl="1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𝒓𝒄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𝒓𝒄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𝒓𝒄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𝒓𝒄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𝒓𝒄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𝒓𝒄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n-US" altLang="zh-CN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←</m:t>
                      </m:r>
                      <m:r>
                        <a:rPr lang="en-US" altLang="zh-CN" sz="28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𝒓𝒄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altLang="zh-CN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𝒓𝒄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altLang="zh-CN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𝒓𝒄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𝒓𝒄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𝒓𝒄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𝒓𝒄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US" altLang="zh-CN" sz="2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⨁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𝒓𝒄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altLang="zh-CN" sz="2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⨁</m:t>
                      </m:r>
                      <m:r>
                        <a:rPr lang="en-US" altLang="zh-CN" sz="2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8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b="0" dirty="0"/>
              </a:p>
              <a:p>
                <a:pPr marL="914400" lvl="1" indent="-45720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600" b="0" i="1">
                            <a:solidFill>
                              <a:srgbClr val="350FF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>
                            <a:solidFill>
                              <a:srgbClr val="350FF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𝑟𝑐</m:t>
                        </m:r>
                      </m:e>
                      <m:sub>
                        <m:r>
                          <a:rPr lang="en-US" altLang="zh-CN" sz="3600" b="0" i="1">
                            <a:solidFill>
                              <a:srgbClr val="350FF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3600" b="0" i="1">
                        <a:solidFill>
                          <a:srgbClr val="350FF1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altLang="zh-CN" sz="3600" b="0" i="1">
                            <a:solidFill>
                              <a:srgbClr val="350FF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>
                            <a:solidFill>
                              <a:srgbClr val="350FF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𝑟𝑐</m:t>
                        </m:r>
                      </m:e>
                      <m:sub>
                        <m:r>
                          <a:rPr lang="en-US" altLang="zh-CN" sz="3600" b="0" i="1">
                            <a:solidFill>
                              <a:srgbClr val="350FF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600" b="0" i="1">
                        <a:solidFill>
                          <a:srgbClr val="350FF1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altLang="zh-CN" sz="3600" b="0" i="1">
                            <a:solidFill>
                              <a:srgbClr val="350FF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>
                            <a:solidFill>
                              <a:srgbClr val="350FF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𝑟𝑐</m:t>
                        </m:r>
                      </m:e>
                      <m:sub>
                        <m:r>
                          <a:rPr lang="en-US" altLang="zh-CN" sz="3600" b="0" i="1">
                            <a:solidFill>
                              <a:srgbClr val="350FF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600" b="0" i="1">
                        <a:solidFill>
                          <a:srgbClr val="350FF1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altLang="zh-CN" sz="3600" b="0" i="1">
                            <a:solidFill>
                              <a:srgbClr val="350FF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>
                            <a:solidFill>
                              <a:srgbClr val="350FF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𝑟𝑐</m:t>
                        </m:r>
                      </m:e>
                      <m:sub>
                        <m:r>
                          <a:rPr lang="en-US" altLang="zh-CN" sz="3600" b="0" i="1">
                            <a:solidFill>
                              <a:srgbClr val="350FF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600" b="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3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6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600" b="0" i="1">
                            <a:solidFill>
                              <a:srgbClr val="350FF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>
                            <a:solidFill>
                              <a:srgbClr val="350FF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𝑟𝑐</m:t>
                        </m:r>
                      </m:e>
                      <m:sub>
                        <m:r>
                          <a:rPr lang="en-US" altLang="zh-CN" sz="3600" b="0" i="1">
                            <a:solidFill>
                              <a:srgbClr val="350FF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CN" sz="3600" b="0" i="1">
                        <a:solidFill>
                          <a:srgbClr val="350FF1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altLang="zh-CN" sz="3600" b="0" i="1">
                            <a:solidFill>
                              <a:srgbClr val="350FF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>
                            <a:solidFill>
                              <a:srgbClr val="350FF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𝑟𝑐</m:t>
                        </m:r>
                      </m:e>
                      <m:sub>
                        <m:r>
                          <a:rPr lang="en-US" altLang="zh-CN" sz="3600" b="0" i="1">
                            <a:solidFill>
                              <a:srgbClr val="350FF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altLang="zh-CN" sz="3600" b="0" dirty="0"/>
              </a:p>
              <a:p>
                <a:pPr marL="1028700" lvl="1" indent="-57150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zh-CN" altLang="en-US" sz="3200" b="0" dirty="0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825" y="2356485"/>
                <a:ext cx="11088370" cy="5723890"/>
              </a:xfrm>
              <a:prstGeom prst="rect">
                <a:avLst/>
              </a:prstGeom>
              <a:blipFill rotWithShape="1">
                <a:blip r:embed="rId1"/>
                <a:stretch>
                  <a:fillRect r="-2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1"/>
          <p:cNvSpPr txBox="1">
            <a:spLocks noChangeArrowheads="1"/>
          </p:cNvSpPr>
          <p:nvPr/>
        </p:nvSpPr>
        <p:spPr bwMode="auto">
          <a:xfrm>
            <a:off x="1030633" y="459200"/>
            <a:ext cx="8640119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b" anchorCtr="0" compatLnSpc="1"/>
          <a:lstStyle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6000" kern="120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 Neue Medium" charset="0"/>
              </a:defRPr>
            </a:lvl1pPr>
            <a:lvl2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2pPr>
            <a:lvl3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3pPr>
            <a:lvl4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4pPr>
            <a:lvl5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5pPr>
            <a:lvl6pPr marL="4572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6pPr>
            <a:lvl7pPr marL="9144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7pPr>
            <a:lvl8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8pPr>
            <a:lvl9pPr marL="18288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9pPr>
          </a:lstStyle>
          <a:p>
            <a:pPr algn="l" eaLnBrk="1">
              <a:defRPr/>
            </a:pPr>
            <a:r>
              <a:rPr lang="en-US" altLang="zh-CN" sz="5400" dirty="0">
                <a:solidFill>
                  <a:srgbClr val="008000"/>
                </a:solidFill>
                <a:latin typeface="+mn-ea"/>
                <a:ea typeface="+mn-ea"/>
                <a:cs typeface="Times New Roman" panose="02020603050405020304" pitchFamily="18" charset="0"/>
              </a:rPr>
              <a:t>6.1 Skinny</a:t>
            </a:r>
            <a:r>
              <a:rPr lang="zh-CN" altLang="en-US" sz="5400" dirty="0">
                <a:solidFill>
                  <a:srgbClr val="008000"/>
                </a:solidFill>
                <a:latin typeface="+mn-ea"/>
                <a:ea typeface="+mn-ea"/>
                <a:cs typeface="Times New Roman" panose="02020603050405020304" pitchFamily="18" charset="0"/>
              </a:rPr>
              <a:t>算法族子部件</a:t>
            </a:r>
            <a:endParaRPr lang="zh-CN" altLang="zh-CN" sz="5400" dirty="0">
              <a:solidFill>
                <a:srgbClr val="008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0" y="1420416"/>
            <a:ext cx="13004800" cy="360040"/>
          </a:xfrm>
          <a:prstGeom prst="rect">
            <a:avLst/>
          </a:prstGeom>
          <a:solidFill>
            <a:srgbClr val="008000"/>
          </a:solidFill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50800" tIns="50800" rIns="50800" bIns="50800" numCol="1" rtlCol="0" anchor="ctr" anchorCtr="0" compatLnSpc="1"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" name="Rectangle 1"/>
          <p:cNvSpPr txBox="1">
            <a:spLocks noChangeArrowheads="1"/>
          </p:cNvSpPr>
          <p:nvPr/>
        </p:nvSpPr>
        <p:spPr bwMode="auto">
          <a:xfrm>
            <a:off x="1030633" y="459200"/>
            <a:ext cx="8640119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b" anchorCtr="0" compatLnSpc="1"/>
          <a:lstStyle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6000" kern="120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 Neue Medium" charset="0"/>
              </a:defRPr>
            </a:lvl1pPr>
            <a:lvl2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2pPr>
            <a:lvl3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3pPr>
            <a:lvl4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4pPr>
            <a:lvl5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5pPr>
            <a:lvl6pPr marL="4572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6pPr>
            <a:lvl7pPr marL="9144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7pPr>
            <a:lvl8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8pPr>
            <a:lvl9pPr marL="18288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9pPr>
          </a:lstStyle>
          <a:p>
            <a:pPr algn="l" eaLnBrk="1">
              <a:defRPr/>
            </a:pPr>
            <a:r>
              <a:rPr lang="en-US" altLang="zh-CN" sz="5400" dirty="0">
                <a:solidFill>
                  <a:srgbClr val="008000"/>
                </a:solidFill>
                <a:latin typeface="+mn-ea"/>
                <a:ea typeface="+mn-ea"/>
                <a:cs typeface="Times New Roman" panose="02020603050405020304" pitchFamily="18" charset="0"/>
              </a:rPr>
              <a:t>6.1 Skinny</a:t>
            </a:r>
            <a:r>
              <a:rPr lang="zh-CN" altLang="en-US" sz="5400" dirty="0">
                <a:solidFill>
                  <a:srgbClr val="008000"/>
                </a:solidFill>
                <a:latin typeface="+mn-ea"/>
                <a:ea typeface="+mn-ea"/>
                <a:cs typeface="Times New Roman" panose="02020603050405020304" pitchFamily="18" charset="0"/>
              </a:rPr>
              <a:t>算法族子部件</a:t>
            </a:r>
            <a:endParaRPr lang="zh-CN" altLang="zh-CN" sz="5400" dirty="0">
              <a:solidFill>
                <a:srgbClr val="008000"/>
              </a:solidFill>
              <a:latin typeface="+mn-ea"/>
              <a:ea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530" y="2013803"/>
            <a:ext cx="12143740" cy="245554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05756" y="4702695"/>
            <a:ext cx="11593288" cy="183972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ART</a:t>
            </a: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</a:t>
            </a:r>
            <a:r>
              <a:rPr lang="en-US" altLang="zh-CN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：异或轮可调密钥，将轮可调密钥与内部状态的</a:t>
            </a: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前两行</a:t>
            </a:r>
            <a:r>
              <a:rPr lang="zh-CN" altLang="en-US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进行异或。</a:t>
            </a:r>
            <a:endParaRPr lang="zh-CN" altLang="en-US" sz="40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2902000" y="2203068"/>
            <a:ext cx="2664296" cy="2232248"/>
          </a:xfrm>
          <a:prstGeom prst="rect">
            <a:avLst/>
          </a:prstGeom>
          <a:ln w="38100">
            <a:solidFill>
              <a:srgbClr val="FF0000"/>
            </a:solidFill>
            <a:prstDash val="dashDot"/>
            <a:headEnd type="none" w="med" len="med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0662" y="6542418"/>
            <a:ext cx="4943475" cy="207645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 bwMode="auto">
          <a:xfrm>
            <a:off x="5333998" y="6775765"/>
            <a:ext cx="2968602" cy="774767"/>
          </a:xfrm>
          <a:prstGeom prst="rect">
            <a:avLst/>
          </a:prstGeom>
          <a:ln w="38100">
            <a:solidFill>
              <a:srgbClr val="350FF1"/>
            </a:solidFill>
            <a:headEnd type="none" w="med" len="med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0" y="1420416"/>
            <a:ext cx="13004800" cy="360040"/>
          </a:xfrm>
          <a:prstGeom prst="rect">
            <a:avLst/>
          </a:prstGeom>
          <a:solidFill>
            <a:srgbClr val="008000"/>
          </a:solidFill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50800" tIns="50800" rIns="50800" bIns="50800" numCol="1" rtlCol="0" anchor="ctr" anchorCtr="0" compatLnSpc="1"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5825" y="2356485"/>
            <a:ext cx="11088370" cy="2401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600" b="0" dirty="0"/>
              <a:t>Skinny n/t </a:t>
            </a:r>
            <a:r>
              <a:rPr lang="zh-CN" altLang="en-US" sz="3600" b="0" dirty="0">
                <a:sym typeface="+mn-ea"/>
              </a:rPr>
              <a:t>轮可调密钥</a:t>
            </a:r>
            <a:r>
              <a:rPr lang="zh-CN" altLang="en-US" sz="3600" b="0" dirty="0">
                <a:latin typeface="Cambria Math" panose="02040503050406030204" pitchFamily="18" charset="0"/>
                <a:cs typeface="Cambria Math" panose="02040503050406030204" pitchFamily="18" charset="0"/>
              </a:rPr>
              <a:t>由</a:t>
            </a:r>
            <a:r>
              <a:rPr lang="zh-CN" altLang="en-US" sz="3600" dirty="0">
                <a:solidFill>
                  <a:srgbClr val="350FF1"/>
                </a:solidFill>
                <a:latin typeface="Cambria Math" panose="02040503050406030204" pitchFamily="18" charset="0"/>
                <a:cs typeface="Cambria Math" panose="02040503050406030204" pitchFamily="18" charset="0"/>
              </a:rPr>
              <a:t>可调密钥编排算法</a:t>
            </a:r>
            <a:r>
              <a:rPr lang="zh-CN" altLang="en-US" sz="3600" b="0" dirty="0">
                <a:latin typeface="Cambria Math" panose="02040503050406030204" pitchFamily="18" charset="0"/>
                <a:cs typeface="Cambria Math" panose="02040503050406030204" pitchFamily="18" charset="0"/>
              </a:rPr>
              <a:t>作用于</a:t>
            </a:r>
            <a:r>
              <a:rPr lang="zh-CN" altLang="en-US" sz="3600" dirty="0">
                <a:solidFill>
                  <a:srgbClr val="350FF1"/>
                </a:solidFill>
                <a:latin typeface="Cambria Math" panose="02040503050406030204" pitchFamily="18" charset="0"/>
                <a:cs typeface="Cambria Math" panose="02040503050406030204" pitchFamily="18" charset="0"/>
              </a:rPr>
              <a:t>可调密钥</a:t>
            </a:r>
            <a:r>
              <a:rPr lang="en-US" altLang="zh-CN" sz="3600" i="1" dirty="0" err="1">
                <a:solidFill>
                  <a:srgbClr val="350FF1"/>
                </a:solidFill>
                <a:latin typeface="Cambria Math" panose="02040503050406030204" pitchFamily="18" charset="0"/>
                <a:cs typeface="Cambria Math" panose="02040503050406030204" pitchFamily="18" charset="0"/>
              </a:rPr>
              <a:t>tk</a:t>
            </a:r>
            <a:r>
              <a:rPr lang="zh-CN" altLang="en-US" sz="3600" b="0" dirty="0">
                <a:sym typeface="+mn-ea"/>
              </a:rPr>
              <a:t>生成</a:t>
            </a:r>
            <a:r>
              <a:rPr lang="zh-CN" altLang="en-US" sz="3600" b="0" dirty="0"/>
              <a:t>：</a:t>
            </a:r>
            <a:endParaRPr lang="en-US" altLang="zh-CN" sz="3600" b="0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</a:pPr>
            <a:endParaRPr lang="en-US" altLang="zh-CN" sz="3200" i="1" dirty="0">
              <a:latin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 bwMode="auto">
          <a:xfrm>
            <a:off x="1030633" y="459200"/>
            <a:ext cx="8640119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b" anchorCtr="0" compatLnSpc="1"/>
          <a:lstStyle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6000" kern="120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 Neue Medium" charset="0"/>
              </a:defRPr>
            </a:lvl1pPr>
            <a:lvl2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2pPr>
            <a:lvl3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3pPr>
            <a:lvl4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4pPr>
            <a:lvl5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5pPr>
            <a:lvl6pPr marL="4572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6pPr>
            <a:lvl7pPr marL="9144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7pPr>
            <a:lvl8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8pPr>
            <a:lvl9pPr marL="18288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9pPr>
          </a:lstStyle>
          <a:p>
            <a:pPr algn="l" eaLnBrk="1">
              <a:defRPr/>
            </a:pPr>
            <a:r>
              <a:rPr lang="en-US" altLang="zh-CN" sz="5400" dirty="0">
                <a:solidFill>
                  <a:srgbClr val="008000"/>
                </a:solidFill>
                <a:latin typeface="+mn-ea"/>
                <a:ea typeface="+mn-ea"/>
                <a:cs typeface="Times New Roman" panose="02020603050405020304" pitchFamily="18" charset="0"/>
              </a:rPr>
              <a:t>6.1 Skinny</a:t>
            </a:r>
            <a:r>
              <a:rPr lang="zh-CN" altLang="en-US" sz="5400" dirty="0">
                <a:solidFill>
                  <a:srgbClr val="008000"/>
                </a:solidFill>
                <a:latin typeface="+mn-ea"/>
                <a:ea typeface="+mn-ea"/>
                <a:cs typeface="Times New Roman" panose="02020603050405020304" pitchFamily="18" charset="0"/>
              </a:rPr>
              <a:t>算法族子部件</a:t>
            </a:r>
            <a:endParaRPr lang="zh-CN" altLang="zh-CN" sz="5400" dirty="0">
              <a:solidFill>
                <a:srgbClr val="008000"/>
              </a:solidFill>
              <a:latin typeface="+mn-ea"/>
              <a:ea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958215" y="4300736"/>
                <a:ext cx="11088370" cy="35202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028700" lvl="1" indent="-571500" algn="just">
                  <a:lnSpc>
                    <a:spcPct val="1500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ü"/>
                </a:pPr>
                <a:r>
                  <a:rPr lang="zh-CN" altLang="en-US" sz="3600" b="0" dirty="0">
                    <a:solidFill>
                      <a:schemeClr val="tx1"/>
                    </a:solidFill>
                  </a:rPr>
                  <a:t>用</a:t>
                </a:r>
                <a:r>
                  <a:rPr lang="en-US" altLang="zh-CN" sz="3600" b="0" dirty="0" err="1">
                    <a:solidFill>
                      <a:srgbClr val="350FF1"/>
                    </a:solidFill>
                  </a:rPr>
                  <a:t>i</a:t>
                </a:r>
                <a:r>
                  <a:rPr lang="zh-CN" altLang="en-US" sz="3600" b="0" dirty="0">
                    <a:solidFill>
                      <a:srgbClr val="350FF1"/>
                    </a:solidFill>
                  </a:rPr>
                  <a:t>和</a:t>
                </a:r>
                <a:r>
                  <a:rPr lang="en-US" altLang="zh-CN" sz="3600" b="0" dirty="0">
                    <a:solidFill>
                      <a:srgbClr val="350FF1"/>
                    </a:solidFill>
                  </a:rPr>
                  <a:t>j</a:t>
                </a:r>
                <a:r>
                  <a:rPr lang="zh-CN" altLang="en-US" sz="3600" b="0" dirty="0">
                    <a:solidFill>
                      <a:schemeClr val="tx1"/>
                    </a:solidFill>
                  </a:rPr>
                  <a:t>分别表示内部状态</a:t>
                </a:r>
                <a:r>
                  <a:rPr lang="zh-CN" altLang="en-US" sz="3600" b="0" dirty="0">
                    <a:solidFill>
                      <a:srgbClr val="350FF1"/>
                    </a:solidFill>
                  </a:rPr>
                  <a:t>行号和列号：</a:t>
                </a:r>
                <a:endParaRPr lang="en-US" altLang="zh-CN" sz="3600" b="0" dirty="0">
                  <a:solidFill>
                    <a:srgbClr val="350FF1"/>
                  </a:solidFill>
                </a:endParaRPr>
              </a:p>
              <a:p>
                <a:pPr lvl="2"/>
                <a:r>
                  <a:rPr lang="zh-CN" altLang="en-US" sz="3600" b="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3600" b="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3600" b="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3600" b="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  <m:r>
                      <a:rPr lang="en-US" altLang="zh-CN" sz="3600" b="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𝐼𝑆</m:t>
                        </m:r>
                      </m:e>
                      <m:sub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3600" b="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𝐼𝑆</m:t>
                        </m:r>
                      </m:e>
                      <m:sub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3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⨁ </m:t>
                    </m:r>
                    <m:sSub>
                      <m:sSubPr>
                        <m:ctrlP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𝑇𝐾</m:t>
                        </m:r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3600" b="0" i="1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</a:t>
                </a:r>
                <a:endParaRPr lang="en-US" altLang="zh-CN" sz="3600" b="0" i="1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lvl="2"/>
                <a:r>
                  <a:rPr lang="zh-CN" altLang="en-US" sz="3600" b="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3600" b="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3600" b="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3600" b="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altLang="zh-CN" sz="3600" b="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600" b="0" i="1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𝐼𝑆</m:t>
                        </m:r>
                      </m:e>
                      <m:sub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3600" b="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𝐼𝑆</m:t>
                        </m:r>
                      </m:e>
                      <m:sub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3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⨁ </m:t>
                    </m:r>
                    <m:sSub>
                      <m:sSubPr>
                        <m:ctrlP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𝑇𝐾</m:t>
                        </m:r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3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⨁</m:t>
                    </m:r>
                    <m:sSub>
                      <m:sSubPr>
                        <m:ctrlP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𝑇𝐾</m:t>
                        </m:r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zh-CN" sz="3600" b="0" i="1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lvl="2"/>
                <a:r>
                  <a:rPr lang="zh-CN" altLang="en-US" sz="3600" b="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3600" b="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3600" b="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3600" b="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r>
                      <a:rPr lang="en-US" altLang="zh-CN" sz="3600" b="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𝐼𝑆</m:t>
                        </m:r>
                      </m:e>
                      <m:sub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3600" b="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𝐼𝑆</m:t>
                        </m:r>
                      </m:e>
                      <m:sub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3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⨁ </m:t>
                    </m:r>
                    <m:sSub>
                      <m:sSubPr>
                        <m:ctrlP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𝑇𝐾</m:t>
                        </m:r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3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⨁</m:t>
                    </m:r>
                    <m:sSub>
                      <m:sSubPr>
                        <m:ctrlP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𝑇𝐾</m:t>
                        </m:r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3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⨁</m:t>
                    </m:r>
                    <m:sSub>
                      <m:sSubPr>
                        <m:ctrlP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𝑇𝐾</m:t>
                        </m:r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e>
                      <m:sub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600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zh-CN" sz="3600" i="1" dirty="0">
                  <a:solidFill>
                    <a:srgbClr val="350FF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  <a:buFont typeface="Wingdings" panose="05000000000000000000" pitchFamily="2" charset="2"/>
                </a:pPr>
                <a:endParaRPr lang="en-US" altLang="zh-CN" sz="3200" i="1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215" y="4300736"/>
                <a:ext cx="11088370" cy="3520259"/>
              </a:xfrm>
              <a:prstGeom prst="rect">
                <a:avLst/>
              </a:prstGeom>
              <a:blipFill rotWithShape="1">
                <a:blip r:embed="rId1"/>
                <a:stretch>
                  <a:fillRect t="-15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0" y="1420416"/>
            <a:ext cx="13004800" cy="360040"/>
          </a:xfrm>
          <a:prstGeom prst="rect">
            <a:avLst/>
          </a:prstGeom>
          <a:solidFill>
            <a:srgbClr val="008000"/>
          </a:solidFill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50800" tIns="50800" rIns="50800" bIns="50800" numCol="1" rtlCol="0" anchor="ctr" anchorCtr="0" compatLnSpc="1"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 bwMode="auto">
          <a:xfrm>
            <a:off x="1030633" y="459200"/>
            <a:ext cx="8640119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b" anchorCtr="0" compatLnSpc="1"/>
          <a:lstStyle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6000" kern="120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 Neue Medium" charset="0"/>
              </a:defRPr>
            </a:lvl1pPr>
            <a:lvl2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2pPr>
            <a:lvl3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3pPr>
            <a:lvl4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4pPr>
            <a:lvl5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5pPr>
            <a:lvl6pPr marL="4572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6pPr>
            <a:lvl7pPr marL="9144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7pPr>
            <a:lvl8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8pPr>
            <a:lvl9pPr marL="18288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9pPr>
          </a:lstStyle>
          <a:p>
            <a:pPr algn="l" eaLnBrk="1">
              <a:defRPr/>
            </a:pPr>
            <a:r>
              <a:rPr lang="en-US" altLang="zh-CN" sz="5400" dirty="0">
                <a:solidFill>
                  <a:srgbClr val="008000"/>
                </a:solidFill>
                <a:latin typeface="+mn-ea"/>
                <a:ea typeface="+mn-ea"/>
                <a:cs typeface="Times New Roman" panose="02020603050405020304" pitchFamily="18" charset="0"/>
              </a:rPr>
              <a:t>6.1 Skinny</a:t>
            </a:r>
            <a:r>
              <a:rPr lang="zh-CN" altLang="en-US" sz="5400" dirty="0">
                <a:solidFill>
                  <a:srgbClr val="008000"/>
                </a:solidFill>
                <a:latin typeface="+mn-ea"/>
                <a:ea typeface="+mn-ea"/>
                <a:cs typeface="Times New Roman" panose="02020603050405020304" pitchFamily="18" charset="0"/>
              </a:rPr>
              <a:t>算法族子部件</a:t>
            </a:r>
            <a:endParaRPr lang="zh-CN" altLang="zh-CN" sz="5400" dirty="0">
              <a:solidFill>
                <a:srgbClr val="008000"/>
              </a:solidFill>
              <a:latin typeface="+mn-ea"/>
              <a:ea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885825" y="2212504"/>
                <a:ext cx="11088370" cy="40522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sz="3600" b="0" dirty="0"/>
                  <a:t>Skinny n/t </a:t>
                </a:r>
                <a:r>
                  <a:rPr lang="zh-CN" altLang="en-US" sz="3600" b="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可调密钥编排算法采用</a:t>
                </a:r>
                <a:r>
                  <a:rPr lang="zh-CN" altLang="en-US" sz="3600" dirty="0">
                    <a:solidFill>
                      <a:srgbClr val="350FF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纯线性变换</a:t>
                </a:r>
                <a:r>
                  <a:rPr lang="zh-CN" altLang="en-US" sz="3600" b="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，平行的作用于</a:t>
                </a:r>
                <a14:m>
                  <m:oMath xmlns:m="http://schemas.openxmlformats.org/officeDocument/2006/math">
                    <m:r>
                      <a:rPr lang="en-US" altLang="zh-CN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en-US" altLang="zh-CN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3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，</m:t>
                    </m:r>
                    <m:r>
                      <a:rPr lang="en-US" altLang="zh-CN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en-US" altLang="zh-CN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600" b="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3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en-US" altLang="zh-CN" sz="3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3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3600" b="0" i="1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</a:t>
                </a:r>
                <a:endParaRPr lang="en-US" altLang="zh-CN" sz="3600" b="0" i="1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1028700" lvl="1" indent="-57150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sz="3600" b="0" dirty="0">
                    <a:solidFill>
                      <a:srgbClr val="350FF1"/>
                    </a:solidFill>
                  </a:rPr>
                  <a:t>可调密钥</a:t>
                </a:r>
                <a14:m>
                  <m:oMath xmlns:m="http://schemas.openxmlformats.org/officeDocument/2006/math">
                    <m:r>
                      <a:rPr lang="en-US" altLang="zh-CN" sz="3600" b="0" i="1" smtClean="0">
                        <a:solidFill>
                          <a:srgbClr val="350FF1"/>
                        </a:solidFill>
                        <a:latin typeface="Cambria Math" panose="02040503050406030204" pitchFamily="18" charset="0"/>
                      </a:rPr>
                      <m:t>𝑡𝑘</m:t>
                    </m:r>
                  </m:oMath>
                </a14:m>
                <a:r>
                  <a:rPr lang="zh-CN" altLang="en-US" sz="3600" b="0" dirty="0"/>
                  <a:t>划分为</a:t>
                </a:r>
                <a14:m>
                  <m:oMath xmlns:m="http://schemas.openxmlformats.org/officeDocument/2006/math"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zh-CN" altLang="en-US" sz="3600" b="0" dirty="0"/>
                  <a:t>个字：</a:t>
                </a:r>
                <a:endParaRPr lang="en-US" altLang="zh-CN" sz="3600" b="0" dirty="0"/>
              </a:p>
              <a:p>
                <a:pPr algn="just">
                  <a:lnSpc>
                    <a:spcPct val="150000"/>
                  </a:lnSpc>
                  <a:buFont typeface="Wingdings" panose="05000000000000000000" pitchFamily="2" charset="2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𝑡𝑘</m:t>
                      </m:r>
                      <m:r>
                        <a:rPr lang="en-US" altLang="zh-CN" sz="3200" i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i="1" dirty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 dirty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𝑡𝑘</m:t>
                          </m:r>
                        </m:e>
                        <m:sub>
                          <m:r>
                            <a:rPr lang="en-US" altLang="zh-CN" sz="3200" i="1" dirty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3200" i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||...||</m:t>
                      </m:r>
                      <m:sSub>
                        <m:sSubPr>
                          <m:ctrlPr>
                            <a:rPr lang="en-US" altLang="zh-CN" sz="3200" i="1" dirty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 dirty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𝑡𝑘</m:t>
                          </m:r>
                        </m:e>
                        <m:sub>
                          <m:r>
                            <a:rPr lang="en-US" altLang="zh-CN" sz="3200" i="1" dirty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16</m:t>
                          </m:r>
                          <m:r>
                            <a:rPr lang="en-US" altLang="zh-CN" sz="3200" i="1" dirty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CN" sz="3200" i="1" dirty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3200" i="1" dirty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200" i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i="1" dirty="0" smtClean="0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𝑧</m:t>
                      </m:r>
                      <m:r>
                        <a:rPr lang="en-US" altLang="zh-CN" sz="3200" i="1" dirty="0" smtClean="0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i="1" dirty="0" smtClean="0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1</m:t>
                      </m:r>
                      <m:r>
                        <a:rPr lang="en-US" altLang="zh-CN" sz="3200" i="1" dirty="0" smtClean="0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i="1" dirty="0" smtClean="0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2</m:t>
                      </m:r>
                      <m:r>
                        <a:rPr lang="en-US" altLang="zh-CN" sz="3200" i="1" dirty="0" smtClean="0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i="1" dirty="0" smtClean="0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3</m:t>
                      </m:r>
                      <m:r>
                        <a:rPr lang="en-US" altLang="zh-CN" sz="3200" i="1" dirty="0" smtClean="0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sz="3200" i="1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457200" indent="-457200" algn="ju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endParaRPr lang="en-US" altLang="zh-CN" sz="3600" b="0" i="1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825" y="2212504"/>
                <a:ext cx="11088370" cy="4052263"/>
              </a:xfrm>
              <a:prstGeom prst="rect">
                <a:avLst/>
              </a:prstGeom>
              <a:blipFill rotWithShape="1">
                <a:blip r:embed="rId1"/>
                <a:stretch>
                  <a:fillRect t="-4" b="-4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1893888" y="6715710"/>
                <a:ext cx="10131425" cy="88074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>
                  <a:lnSpc>
                    <a:spcPct val="150000"/>
                  </a:lnSpc>
                  <a:buFont typeface="Wingdings" panose="05000000000000000000" pitchFamily="2" charset="2"/>
                </a:pPr>
                <a14:m>
                  <m:oMath xmlns:m="http://schemas.openxmlformats.org/officeDocument/2006/math"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当</m:t>
                    </m:r>
                    <m:r>
                      <a:rPr lang="en-US" altLang="zh-CN" sz="3200" i="1" dirty="0">
                        <a:solidFill>
                          <a:srgbClr val="350FF1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3200" i="1" dirty="0">
                        <a:solidFill>
                          <a:srgbClr val="350FF1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3200" i="1" dirty="0">
                        <a:solidFill>
                          <a:srgbClr val="350FF1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altLang="zh-CN" sz="3200" i="1" dirty="0">
                        <a:solidFill>
                          <a:srgbClr val="350FF1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𝑇𝐾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𝑡𝑘</m:t>
                        </m:r>
                      </m:e>
                      <m:sub>
                        <m: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3200" i="1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𝑇𝐾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𝑡𝑘</m:t>
                        </m:r>
                      </m:e>
                      <m:sub>
                        <m: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16</m:t>
                        </m:r>
                      </m:sub>
                    </m:sSub>
                  </m:oMath>
                </a14:m>
                <a:r>
                  <a:rPr lang="en-US" altLang="zh-CN" sz="3200" i="1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≤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𝑖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&lt;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32</m:t>
                    </m:r>
                  </m:oMath>
                </a14:m>
                <a:endParaRPr lang="en-US" altLang="zh-CN" sz="3200" i="1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888" y="6715710"/>
                <a:ext cx="10131425" cy="880745"/>
              </a:xfrm>
              <a:prstGeom prst="rect">
                <a:avLst/>
              </a:prstGeom>
              <a:blipFill rotWithShape="1">
                <a:blip r:embed="rId2"/>
                <a:stretch>
                  <a:fillRect l="-3" t="-66" r="3" b="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1893888" y="5923865"/>
                <a:ext cx="6502400" cy="88074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>
                  <a:lnSpc>
                    <a:spcPct val="150000"/>
                  </a:lnSpc>
                  <a:buFont typeface="Wingdings" panose="05000000000000000000" pitchFamily="2" charset="2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3200" i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当</m:t>
                      </m:r>
                      <m:r>
                        <a:rPr lang="en-US" altLang="zh-CN" sz="3200" i="1" dirty="0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𝑧</m:t>
                      </m:r>
                      <m:r>
                        <a:rPr lang="en-US" altLang="zh-CN" sz="3200" i="1" dirty="0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i="1" dirty="0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1</m:t>
                      </m:r>
                      <m:r>
                        <a:rPr lang="en-US" altLang="zh-CN" sz="3200" i="1" dirty="0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sz="3200" i="1" dirty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 dirty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𝑇𝐾</m:t>
                          </m:r>
                          <m:r>
                            <a:rPr lang="en-US" altLang="zh-CN" sz="3200" i="1" dirty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 lang="en-US" altLang="zh-CN" sz="3200" i="1" dirty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3200" i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i="1" dirty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 dirty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𝑡𝑘</m:t>
                          </m:r>
                        </m:e>
                        <m:sub>
                          <m:r>
                            <a:rPr lang="en-US" altLang="zh-CN" sz="3200" i="1" dirty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3200" i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 </m:t>
                      </m:r>
                      <m:r>
                        <a:rPr lang="en-US" altLang="zh-CN" sz="3200" i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0</m:t>
                      </m:r>
                      <m:r>
                        <a:rPr lang="en-US" altLang="zh-CN" sz="3200" i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≤</m:t>
                      </m:r>
                      <m:r>
                        <a:rPr lang="en-US" altLang="zh-CN" sz="3200" i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3200" i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3200" i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US" altLang="zh-CN" sz="3200" i="1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888" y="5923865"/>
                <a:ext cx="6502400" cy="880745"/>
              </a:xfrm>
              <a:prstGeom prst="rect">
                <a:avLst/>
              </a:prstGeom>
              <a:blipFill rotWithShape="1">
                <a:blip r:embed="rId3"/>
                <a:stretch>
                  <a:fillRect l="-5" t="-66" r="5" b="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1893888" y="8028503"/>
                <a:ext cx="11475720" cy="88074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>
                  <a:lnSpc>
                    <a:spcPct val="150000"/>
                  </a:lnSpc>
                  <a:buFont typeface="Wingdings" panose="05000000000000000000" pitchFamily="2" charset="2"/>
                </a:pPr>
                <a14:m>
                  <m:oMath xmlns:m="http://schemas.openxmlformats.org/officeDocument/2006/math"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当</m:t>
                    </m:r>
                    <m:r>
                      <a:rPr lang="en-US" altLang="zh-CN" sz="3200" i="1" dirty="0">
                        <a:solidFill>
                          <a:srgbClr val="350FF1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3200" i="1" dirty="0">
                        <a:solidFill>
                          <a:srgbClr val="350FF1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3200" i="1" dirty="0">
                        <a:solidFill>
                          <a:srgbClr val="350FF1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r>
                      <a:rPr lang="en-US" altLang="zh-CN" sz="3200" i="1" dirty="0">
                        <a:solidFill>
                          <a:srgbClr val="350FF1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𝑇𝐾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𝑡𝑘</m:t>
                        </m:r>
                      </m:e>
                      <m:sub>
                        <m: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3200" i="1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𝑇𝐾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𝑡𝑘</m:t>
                        </m:r>
                      </m:e>
                      <m:sub>
                        <m: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16</m:t>
                        </m:r>
                      </m:sub>
                    </m:sSub>
                  </m:oMath>
                </a14:m>
                <a:r>
                  <a:rPr lang="en-US" altLang="zh-CN" sz="3200" i="1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𝑇𝐾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e>
                      <m:sub>
                        <m: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𝑡𝑘</m:t>
                        </m:r>
                      </m:e>
                      <m:sub>
                        <m: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32</m:t>
                        </m:r>
                      </m:sub>
                    </m:sSub>
                  </m:oMath>
                </a14:m>
                <a:r>
                  <a:rPr lang="en-US" altLang="zh-CN" sz="3200" i="1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≤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𝑖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&lt;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48</m:t>
                    </m:r>
                  </m:oMath>
                </a14:m>
                <a:endParaRPr lang="en-US" altLang="zh-CN" sz="3200" i="1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888" y="8028503"/>
                <a:ext cx="11475720" cy="880745"/>
              </a:xfrm>
              <a:prstGeom prst="rect">
                <a:avLst/>
              </a:prstGeom>
              <a:blipFill rotWithShape="1">
                <a:blip r:embed="rId4"/>
                <a:stretch>
                  <a:fillRect l="-3" t="-22" r="3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0" y="1420416"/>
            <a:ext cx="13004800" cy="360040"/>
          </a:xfrm>
          <a:prstGeom prst="rect">
            <a:avLst/>
          </a:prstGeom>
          <a:solidFill>
            <a:srgbClr val="008000"/>
          </a:solidFill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50800" tIns="50800" rIns="50800" bIns="50800" numCol="1" rtlCol="0" anchor="ctr" anchorCtr="0" compatLnSpc="1"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 bwMode="auto">
          <a:xfrm>
            <a:off x="1030633" y="459200"/>
            <a:ext cx="8640119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b" anchorCtr="0" compatLnSpc="1"/>
          <a:lstStyle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6000" kern="120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 Neue Medium" charset="0"/>
              </a:defRPr>
            </a:lvl1pPr>
            <a:lvl2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2pPr>
            <a:lvl3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3pPr>
            <a:lvl4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4pPr>
            <a:lvl5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5pPr>
            <a:lvl6pPr marL="4572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6pPr>
            <a:lvl7pPr marL="9144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7pPr>
            <a:lvl8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8pPr>
            <a:lvl9pPr marL="18288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9pPr>
          </a:lstStyle>
          <a:p>
            <a:pPr algn="l" eaLnBrk="1">
              <a:defRPr/>
            </a:pPr>
            <a:r>
              <a:rPr lang="en-US" altLang="zh-CN" sz="5400" dirty="0">
                <a:solidFill>
                  <a:srgbClr val="008000"/>
                </a:solidFill>
                <a:latin typeface="+mn-ea"/>
                <a:ea typeface="+mn-ea"/>
                <a:cs typeface="Times New Roman" panose="02020603050405020304" pitchFamily="18" charset="0"/>
              </a:rPr>
              <a:t>6.1 Skinny</a:t>
            </a:r>
            <a:r>
              <a:rPr lang="zh-CN" altLang="en-US" sz="5400" dirty="0">
                <a:solidFill>
                  <a:srgbClr val="008000"/>
                </a:solidFill>
                <a:latin typeface="+mn-ea"/>
                <a:ea typeface="+mn-ea"/>
                <a:cs typeface="Times New Roman" panose="02020603050405020304" pitchFamily="18" charset="0"/>
              </a:rPr>
              <a:t>算法族子部件</a:t>
            </a:r>
            <a:endParaRPr lang="zh-CN" altLang="zh-CN" sz="5400" dirty="0">
              <a:solidFill>
                <a:srgbClr val="008000"/>
              </a:solidFill>
              <a:latin typeface="+mn-ea"/>
              <a:ea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5825" y="1987750"/>
            <a:ext cx="11088370" cy="824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600" b="0" dirty="0"/>
              <a:t>Skinny n/t </a:t>
            </a:r>
            <a:r>
              <a:rPr lang="zh-CN" altLang="en-US" sz="3600" dirty="0">
                <a:solidFill>
                  <a:srgbClr val="350FF1"/>
                </a:solidFill>
                <a:latin typeface="Cambria Math" panose="02040503050406030204" pitchFamily="18" charset="0"/>
                <a:cs typeface="Cambria Math" panose="02040503050406030204" pitchFamily="18" charset="0"/>
              </a:rPr>
              <a:t>可调密钥编排算法流程：</a:t>
            </a:r>
            <a:endParaRPr lang="en-US" altLang="zh-CN" sz="3200" i="1" dirty="0">
              <a:latin typeface="Cambria Math" panose="02040503050406030204" pitchFamily="18" charset="0"/>
              <a:cs typeface="Cambria Math" panose="02040503050406030204" pitchFamily="18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5847" y="3341922"/>
            <a:ext cx="9908326" cy="308208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1030633" y="6965763"/>
                <a:ext cx="11088370" cy="16554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sz="3600" b="0" dirty="0"/>
                  <a:t>Skinny n/t </a:t>
                </a:r>
                <a:r>
                  <a:rPr lang="zh-CN" altLang="en-US" sz="3600" b="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可调密钥编排算法包含</a:t>
                </a:r>
                <a:r>
                  <a:rPr lang="zh-CN" altLang="en-US" sz="3600" dirty="0">
                    <a:solidFill>
                      <a:srgbClr val="350FF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字置换操作</a:t>
                </a:r>
                <a:r>
                  <a:rPr lang="zh-CN" altLang="en-US" sz="3600" b="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和</a:t>
                </a:r>
                <a:r>
                  <a:rPr lang="en-US" altLang="zh-CN" sz="3600" dirty="0">
                    <a:solidFill>
                      <a:srgbClr val="350FF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LFSR</a:t>
                </a:r>
                <a:r>
                  <a:rPr lang="zh-CN" altLang="en-US" sz="3600" dirty="0">
                    <a:solidFill>
                      <a:srgbClr val="350FF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操作。</a:t>
                </a:r>
                <a:r>
                  <a:rPr lang="zh-CN" altLang="en-US" sz="3600" b="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注意，</a:t>
                </a:r>
                <a:r>
                  <a:rPr lang="en-US" altLang="zh-CN" sz="36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LFSR</a:t>
                </a:r>
                <a:r>
                  <a:rPr lang="zh-CN" altLang="en-US" sz="36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操作不作用于</a:t>
                </a:r>
                <a14:m>
                  <m:oMath xmlns:m="http://schemas.openxmlformats.org/officeDocument/2006/math">
                    <m:r>
                      <a:rPr lang="en-US" altLang="zh-CN" sz="3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𝑻</m:t>
                    </m:r>
                    <m:sSub>
                      <m:sSubPr>
                        <m:ctrlPr>
                          <a:rPr lang="en-US" altLang="zh-CN" sz="3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altLang="zh-CN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3600" dirty="0">
                    <a:solidFill>
                      <a:srgbClr val="350FF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.</a:t>
                </a:r>
                <a:endParaRPr lang="en-US" altLang="zh-CN" sz="3600" dirty="0">
                  <a:solidFill>
                    <a:srgbClr val="350FF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633" y="6965763"/>
                <a:ext cx="11088370" cy="1655453"/>
              </a:xfrm>
              <a:prstGeom prst="rect">
                <a:avLst/>
              </a:prstGeom>
              <a:blipFill rotWithShape="1">
                <a:blip r:embed="rId2"/>
                <a:stretch>
                  <a:fillRect t="-27" b="-21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0" y="1420416"/>
            <a:ext cx="13004800" cy="360040"/>
          </a:xfrm>
          <a:prstGeom prst="rect">
            <a:avLst/>
          </a:prstGeom>
          <a:solidFill>
            <a:srgbClr val="008000"/>
          </a:solidFill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50800" tIns="50800" rIns="50800" bIns="50800" numCol="1" rtlCol="0" anchor="ctr" anchorCtr="0" compatLnSpc="1"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 bwMode="auto">
          <a:xfrm>
            <a:off x="1030633" y="459200"/>
            <a:ext cx="8640119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b" anchorCtr="0" compatLnSpc="1"/>
          <a:lstStyle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6000" kern="120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 Neue Medium" charset="0"/>
              </a:defRPr>
            </a:lvl1pPr>
            <a:lvl2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2pPr>
            <a:lvl3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3pPr>
            <a:lvl4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4pPr>
            <a:lvl5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5pPr>
            <a:lvl6pPr marL="4572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6pPr>
            <a:lvl7pPr marL="9144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7pPr>
            <a:lvl8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8pPr>
            <a:lvl9pPr marL="18288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9pPr>
          </a:lstStyle>
          <a:p>
            <a:pPr algn="l" eaLnBrk="1">
              <a:defRPr/>
            </a:pPr>
            <a:r>
              <a:rPr lang="en-US" altLang="zh-CN" sz="5400" dirty="0">
                <a:solidFill>
                  <a:srgbClr val="008000"/>
                </a:solidFill>
                <a:latin typeface="+mn-ea"/>
                <a:ea typeface="+mn-ea"/>
                <a:cs typeface="Times New Roman" panose="02020603050405020304" pitchFamily="18" charset="0"/>
              </a:rPr>
              <a:t>6.1 Skinny</a:t>
            </a:r>
            <a:r>
              <a:rPr lang="zh-CN" altLang="en-US" sz="5400" dirty="0">
                <a:solidFill>
                  <a:srgbClr val="008000"/>
                </a:solidFill>
                <a:latin typeface="+mn-ea"/>
                <a:ea typeface="+mn-ea"/>
                <a:cs typeface="Times New Roman" panose="02020603050405020304" pitchFamily="18" charset="0"/>
              </a:rPr>
              <a:t>算法族子部件</a:t>
            </a:r>
            <a:endParaRPr lang="zh-CN" altLang="zh-CN" sz="5400" dirty="0">
              <a:solidFill>
                <a:srgbClr val="008000"/>
              </a:solidFill>
              <a:latin typeface="+mn-ea"/>
              <a:ea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1030633" y="2140496"/>
                <a:ext cx="11088370" cy="2553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36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字置换操作：</a:t>
                </a:r>
                <a:endParaRPr lang="en-US" altLang="zh-CN" sz="36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altLang="zh-CN" sz="3600" b="0" i="1" smtClean="0">
                              <a:solidFill>
                                <a:srgbClr val="350FF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0" i="1" smtClean="0">
                              <a:solidFill>
                                <a:srgbClr val="350FF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3600" b="0" i="1" smtClean="0">
                              <a:solidFill>
                                <a:srgbClr val="350FF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3600" b="0" i="1" smtClean="0">
                              <a:solidFill>
                                <a:srgbClr val="350FF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600" b="0" i="1" smtClean="0">
                              <a:solidFill>
                                <a:srgbClr val="350FF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3600" b="0" i="1" smtClean="0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←</m:t>
                      </m:r>
                      <m:r>
                        <a:rPr lang="en-US" altLang="zh-CN" sz="3600" b="0" i="1" smtClean="0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altLang="zh-CN" sz="3600" b="0" i="1" smtClean="0">
                              <a:solidFill>
                                <a:srgbClr val="350FF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0" i="1" smtClean="0">
                              <a:solidFill>
                                <a:srgbClr val="350FF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3600" b="0" i="1" smtClean="0">
                              <a:solidFill>
                                <a:srgbClr val="350FF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3600" b="0" i="1" smtClean="0">
                              <a:solidFill>
                                <a:srgbClr val="350FF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600" b="0" i="1" smtClean="0">
                              <a:solidFill>
                                <a:srgbClr val="350FF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3600" b="0" i="1" smtClean="0">
                              <a:solidFill>
                                <a:srgbClr val="350FF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3600" b="0" i="1" smtClean="0">
                              <a:solidFill>
                                <a:srgbClr val="350FF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3600" b="0" i="1" smtClean="0">
                              <a:solidFill>
                                <a:srgbClr val="350FF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zh-CN" altLang="en-US" sz="3600" b="0" i="1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en-US" altLang="zh-CN" sz="3600" b="0" i="1" dirty="0">
                  <a:solidFill>
                    <a:srgbClr val="350FF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600" b="0" i="1" smtClean="0">
                              <a:solidFill>
                                <a:srgbClr val="350FF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600" b="0" i="1" smtClean="0">
                              <a:solidFill>
                                <a:srgbClr val="350FF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16</m:t>
                          </m:r>
                        </m:e>
                      </m:d>
                      <m:r>
                        <a:rPr lang="en-US" altLang="zh-CN" sz="3600" b="0" i="1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={</m:t>
                      </m:r>
                      <m:r>
                        <a:rPr lang="en-US" altLang="zh-CN" sz="3600" b="0" i="1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9</m:t>
                      </m:r>
                      <m:r>
                        <a:rPr lang="en-US" altLang="zh-CN" sz="3600" b="0" i="1" smtClean="0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3600" b="0" i="1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15</m:t>
                      </m:r>
                      <m:r>
                        <a:rPr lang="en-US" altLang="zh-CN" sz="3600" b="0" i="1" smtClean="0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3600" b="0" i="1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8</m:t>
                      </m:r>
                      <m:r>
                        <a:rPr lang="en-US" altLang="zh-CN" sz="3600" b="0" i="1" smtClean="0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3600" b="0" i="1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13</m:t>
                      </m:r>
                      <m:r>
                        <a:rPr lang="en-US" altLang="zh-CN" sz="3600" b="0" i="1" smtClean="0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3600" b="0" i="1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10</m:t>
                      </m:r>
                      <m:r>
                        <a:rPr lang="en-US" altLang="zh-CN" sz="3600" b="0" i="1" smtClean="0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3600" b="0" i="1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14</m:t>
                      </m:r>
                      <m:r>
                        <a:rPr lang="en-US" altLang="zh-CN" sz="3600" b="0" i="1" smtClean="0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3600" b="0" i="1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12</m:t>
                      </m:r>
                      <m:r>
                        <a:rPr lang="en-US" altLang="zh-CN" sz="3600" b="0" i="1" smtClean="0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3600" b="0" i="1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11</m:t>
                      </m:r>
                      <m:r>
                        <a:rPr lang="en-US" altLang="zh-CN" sz="3600" b="0" i="1" smtClean="0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3600" b="0" i="1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0</m:t>
                      </m:r>
                      <m:r>
                        <a:rPr lang="en-US" altLang="zh-CN" sz="3600" b="0" i="1" smtClean="0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3600" b="0" i="1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1</m:t>
                      </m:r>
                      <m:r>
                        <a:rPr lang="en-US" altLang="zh-CN" sz="3600" b="0" i="1" smtClean="0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3600" b="0" i="1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2</m:t>
                      </m:r>
                      <m:r>
                        <a:rPr lang="en-US" altLang="zh-CN" sz="3600" b="0" i="1" smtClean="0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3600" b="0" i="1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3</m:t>
                      </m:r>
                      <m:r>
                        <a:rPr lang="en-US" altLang="zh-CN" sz="3600" b="0" i="1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3600" b="0" i="1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4</m:t>
                      </m:r>
                      <m:r>
                        <a:rPr lang="en-US" altLang="zh-CN" sz="3600" b="0" i="1" smtClean="0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3600" b="0" i="1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5</m:t>
                      </m:r>
                      <m:r>
                        <a:rPr lang="en-US" altLang="zh-CN" sz="3600" b="0" i="1" smtClean="0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3600" b="0" i="1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6</m:t>
                      </m:r>
                      <m:r>
                        <a:rPr lang="en-US" altLang="zh-CN" sz="3600" b="0" i="1" smtClean="0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3600" b="0" i="1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7</m:t>
                      </m:r>
                      <m:r>
                        <a:rPr lang="en-US" altLang="zh-CN" sz="3600" b="0" i="1" smtClean="0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3600" b="0" i="1">
                          <a:solidFill>
                            <a:srgbClr val="350FF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3600" dirty="0">
                  <a:solidFill>
                    <a:srgbClr val="350FF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633" y="2140496"/>
                <a:ext cx="11088370" cy="2553970"/>
              </a:xfrm>
              <a:prstGeom prst="rect">
                <a:avLst/>
              </a:prstGeom>
              <a:blipFill rotWithShape="1">
                <a:blip r:embed="rId1"/>
                <a:stretch>
                  <a:fillRect t="-21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1049956" y="5380856"/>
            <a:ext cx="11088370" cy="824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600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</a:rPr>
              <a:t>LFSR</a:t>
            </a:r>
            <a:r>
              <a:rPr lang="zh-CN" altLang="en-US" sz="3600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</a:rPr>
              <a:t>操作，作用于前两行的每一个字：</a:t>
            </a:r>
            <a:endParaRPr lang="en-US" altLang="zh-CN" sz="3600" dirty="0">
              <a:solidFill>
                <a:schemeClr val="tx1"/>
              </a:solidFill>
              <a:latin typeface="Cambria Math" panose="02040503050406030204" pitchFamily="18" charset="0"/>
              <a:cs typeface="Cambria Math" panose="020405030504060302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397" y="6455655"/>
            <a:ext cx="9945488" cy="231489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0" y="1420416"/>
            <a:ext cx="13004800" cy="360040"/>
          </a:xfrm>
          <a:prstGeom prst="rect">
            <a:avLst/>
          </a:prstGeom>
          <a:solidFill>
            <a:srgbClr val="008000"/>
          </a:solidFill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50800" tIns="50800" rIns="50800" bIns="50800" numCol="1" rtlCol="0" anchor="ctr" anchorCtr="0" compatLnSpc="1"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" name="Rectangle 1"/>
          <p:cNvSpPr txBox="1">
            <a:spLocks noChangeArrowheads="1"/>
          </p:cNvSpPr>
          <p:nvPr/>
        </p:nvSpPr>
        <p:spPr bwMode="auto">
          <a:xfrm>
            <a:off x="1030633" y="459200"/>
            <a:ext cx="8640119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b" anchorCtr="0" compatLnSpc="1"/>
          <a:lstStyle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6000" kern="120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 Neue Medium" charset="0"/>
              </a:defRPr>
            </a:lvl1pPr>
            <a:lvl2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2pPr>
            <a:lvl3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3pPr>
            <a:lvl4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4pPr>
            <a:lvl5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5pPr>
            <a:lvl6pPr marL="4572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6pPr>
            <a:lvl7pPr marL="9144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7pPr>
            <a:lvl8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8pPr>
            <a:lvl9pPr marL="18288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9pPr>
          </a:lstStyle>
          <a:p>
            <a:pPr algn="l" eaLnBrk="1">
              <a:defRPr/>
            </a:pPr>
            <a:r>
              <a:rPr lang="en-US" altLang="zh-CN" sz="5400" dirty="0">
                <a:solidFill>
                  <a:srgbClr val="008000"/>
                </a:solidFill>
                <a:latin typeface="+mn-ea"/>
                <a:ea typeface="+mn-ea"/>
                <a:cs typeface="Times New Roman" panose="02020603050405020304" pitchFamily="18" charset="0"/>
              </a:rPr>
              <a:t>6.1 Skinny</a:t>
            </a:r>
            <a:r>
              <a:rPr lang="zh-CN" altLang="en-US" sz="5400" dirty="0">
                <a:solidFill>
                  <a:srgbClr val="008000"/>
                </a:solidFill>
                <a:latin typeface="+mn-ea"/>
                <a:ea typeface="+mn-ea"/>
                <a:cs typeface="Times New Roman" panose="02020603050405020304" pitchFamily="18" charset="0"/>
              </a:rPr>
              <a:t>算法族子部件</a:t>
            </a:r>
            <a:endParaRPr lang="zh-CN" altLang="zh-CN" sz="5400" dirty="0">
              <a:solidFill>
                <a:srgbClr val="008000"/>
              </a:solidFill>
              <a:latin typeface="+mn-ea"/>
              <a:ea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530" y="2013803"/>
            <a:ext cx="12143740" cy="245554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05756" y="4702695"/>
            <a:ext cx="11593288" cy="183972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6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ShiftRows</a:t>
            </a: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</a:t>
            </a:r>
            <a:r>
              <a:rPr lang="en-US" altLang="zh-CN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：行移位，与</a:t>
            </a:r>
            <a:r>
              <a:rPr lang="en-US" altLang="zh-CN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AES</a:t>
            </a:r>
            <a:r>
              <a:rPr lang="zh-CN" altLang="en-US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算法行移位类似。注意，是</a:t>
            </a:r>
            <a:r>
              <a:rPr lang="zh-CN" altLang="en-US" sz="3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右循环移位</a:t>
            </a:r>
            <a:r>
              <a:rPr lang="zh-CN" altLang="en-US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40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5672012" y="2263616"/>
            <a:ext cx="2664296" cy="2232248"/>
          </a:xfrm>
          <a:prstGeom prst="rect">
            <a:avLst/>
          </a:prstGeom>
          <a:ln w="38100">
            <a:solidFill>
              <a:srgbClr val="FF0000"/>
            </a:solidFill>
            <a:prstDash val="dashDot"/>
            <a:headEnd type="none" w="med" len="med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192" y="6561995"/>
            <a:ext cx="6512560" cy="273240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0" y="1420416"/>
            <a:ext cx="13004800" cy="360040"/>
          </a:xfrm>
          <a:prstGeom prst="rect">
            <a:avLst/>
          </a:prstGeom>
          <a:solidFill>
            <a:srgbClr val="008000"/>
          </a:solidFill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50800" tIns="50800" rIns="50800" bIns="50800" numCol="1" rtlCol="0" anchor="ctr" anchorCtr="0" compatLnSpc="1"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" name="Rectangle 1"/>
          <p:cNvSpPr txBox="1">
            <a:spLocks noChangeArrowheads="1"/>
          </p:cNvSpPr>
          <p:nvPr/>
        </p:nvSpPr>
        <p:spPr bwMode="auto">
          <a:xfrm>
            <a:off x="1030633" y="459200"/>
            <a:ext cx="8640119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b" anchorCtr="0" compatLnSpc="1"/>
          <a:lstStyle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6000" kern="120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 Neue Medium" charset="0"/>
              </a:defRPr>
            </a:lvl1pPr>
            <a:lvl2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2pPr>
            <a:lvl3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3pPr>
            <a:lvl4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4pPr>
            <a:lvl5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5pPr>
            <a:lvl6pPr marL="4572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6pPr>
            <a:lvl7pPr marL="9144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7pPr>
            <a:lvl8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8pPr>
            <a:lvl9pPr marL="18288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9pPr>
          </a:lstStyle>
          <a:p>
            <a:pPr algn="l" eaLnBrk="1">
              <a:defRPr/>
            </a:pPr>
            <a:r>
              <a:rPr lang="en-US" altLang="zh-CN" sz="5400" dirty="0">
                <a:solidFill>
                  <a:srgbClr val="008000"/>
                </a:solidFill>
                <a:latin typeface="+mn-ea"/>
                <a:ea typeface="+mn-ea"/>
                <a:cs typeface="Times New Roman" panose="02020603050405020304" pitchFamily="18" charset="0"/>
              </a:rPr>
              <a:t>6.1 Skinny</a:t>
            </a:r>
            <a:r>
              <a:rPr lang="zh-CN" altLang="en-US" sz="5400" dirty="0">
                <a:solidFill>
                  <a:srgbClr val="008000"/>
                </a:solidFill>
                <a:latin typeface="+mn-ea"/>
                <a:ea typeface="+mn-ea"/>
                <a:cs typeface="Times New Roman" panose="02020603050405020304" pitchFamily="18" charset="0"/>
              </a:rPr>
              <a:t>算法族子部件</a:t>
            </a:r>
            <a:endParaRPr lang="zh-CN" altLang="zh-CN" sz="5400" dirty="0">
              <a:solidFill>
                <a:srgbClr val="008000"/>
              </a:solidFill>
              <a:latin typeface="+mn-ea"/>
              <a:ea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530" y="2013803"/>
            <a:ext cx="12143740" cy="245554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05756" y="4702695"/>
            <a:ext cx="11593288" cy="183972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6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Mixcolumns</a:t>
            </a: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</a:t>
            </a:r>
            <a:r>
              <a:rPr lang="en-US" altLang="zh-CN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：列混淆，与</a:t>
            </a:r>
            <a:r>
              <a:rPr lang="en-US" altLang="zh-CN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AES</a:t>
            </a:r>
            <a:r>
              <a:rPr lang="zh-CN" altLang="en-US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算法列混淆类似，行向量左乘矩阵。注意，</a:t>
            </a:r>
            <a:r>
              <a:rPr lang="zh-CN" altLang="en-US" sz="3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矩阵中只有</a:t>
            </a:r>
            <a:r>
              <a:rPr lang="en-US" altLang="zh-CN" sz="3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3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3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40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8734648" y="2237100"/>
            <a:ext cx="2664296" cy="2232248"/>
          </a:xfrm>
          <a:prstGeom prst="rect">
            <a:avLst/>
          </a:prstGeom>
          <a:ln w="38100">
            <a:solidFill>
              <a:srgbClr val="FF0000"/>
            </a:solidFill>
            <a:prstDash val="dashDot"/>
            <a:headEnd type="none" w="med" len="med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816" y="7043791"/>
            <a:ext cx="3552528" cy="1726547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6256" y="6731133"/>
            <a:ext cx="7056784" cy="201732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0" y="1420416"/>
            <a:ext cx="13004800" cy="360040"/>
          </a:xfrm>
          <a:prstGeom prst="rect">
            <a:avLst/>
          </a:prstGeom>
          <a:solidFill>
            <a:srgbClr val="008000"/>
          </a:solidFill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50800" tIns="50800" rIns="50800" bIns="50800" numCol="1" rtlCol="0" anchor="ctr" anchorCtr="0" compatLnSpc="1"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7" name="Rectangle 1"/>
          <p:cNvSpPr txBox="1">
            <a:spLocks noChangeArrowheads="1"/>
          </p:cNvSpPr>
          <p:nvPr/>
        </p:nvSpPr>
        <p:spPr bwMode="auto">
          <a:xfrm>
            <a:off x="742315" y="459105"/>
            <a:ext cx="9603740" cy="720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b" anchorCtr="0" compatLnSpc="1"/>
          <a:lstStyle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6000" kern="120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 Neue Medium" charset="0"/>
              </a:defRPr>
            </a:lvl1pPr>
            <a:lvl2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2pPr>
            <a:lvl3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3pPr>
            <a:lvl4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4pPr>
            <a:lvl5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5pPr>
            <a:lvl6pPr marL="4572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6pPr>
            <a:lvl7pPr marL="9144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7pPr>
            <a:lvl8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8pPr>
            <a:lvl9pPr marL="18288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9pPr>
          </a:lstStyle>
          <a:p>
            <a:pPr algn="l" eaLnBrk="1">
              <a:defRPr/>
            </a:pPr>
            <a:r>
              <a:rPr lang="en-US" altLang="zh-CN" sz="5400" dirty="0">
                <a:solidFill>
                  <a:srgbClr val="008000"/>
                </a:solidFill>
                <a:latin typeface="+mn-ea"/>
                <a:ea typeface="+mn-ea"/>
                <a:cs typeface="Times New Roman" panose="02020603050405020304" pitchFamily="18" charset="0"/>
              </a:rPr>
              <a:t>5.3 Skinny64/64</a:t>
            </a:r>
            <a:r>
              <a:rPr lang="zh-CN" altLang="en-US" sz="5400" dirty="0">
                <a:solidFill>
                  <a:srgbClr val="008000"/>
                </a:solidFill>
                <a:latin typeface="+mn-ea"/>
                <a:ea typeface="+mn-ea"/>
                <a:cs typeface="Times New Roman" panose="02020603050405020304" pitchFamily="18" charset="0"/>
              </a:rPr>
              <a:t>算法实现</a:t>
            </a:r>
            <a:endParaRPr lang="zh-CN" altLang="zh-CN" sz="5400" dirty="0">
              <a:solidFill>
                <a:srgbClr val="008000"/>
              </a:solidFill>
              <a:latin typeface="+mn-ea"/>
              <a:ea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85776" y="2093012"/>
            <a:ext cx="10728352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600" b="0" dirty="0"/>
              <a:t>采用</a:t>
            </a:r>
            <a:r>
              <a:rPr lang="zh-CN" altLang="en-US" sz="3600" dirty="0"/>
              <a:t>模块化编程</a:t>
            </a:r>
            <a:r>
              <a:rPr lang="zh-CN" altLang="en-US" sz="3600" b="0" dirty="0"/>
              <a:t>思想，将</a:t>
            </a:r>
            <a:r>
              <a:rPr lang="en-US" altLang="zh-CN" sz="3600" dirty="0"/>
              <a:t>Skinny64/64</a:t>
            </a:r>
            <a:r>
              <a:rPr lang="zh-CN" altLang="en-US" sz="3600" dirty="0"/>
              <a:t>算法</a:t>
            </a:r>
            <a:r>
              <a:rPr lang="zh-CN" altLang="en-US" sz="3600" b="0" dirty="0"/>
              <a:t>的主程序分解为若干个子程序：</a:t>
            </a:r>
            <a:endParaRPr lang="en-US" altLang="zh-CN" sz="3600" b="0" dirty="0"/>
          </a:p>
        </p:txBody>
      </p:sp>
      <p:sp>
        <p:nvSpPr>
          <p:cNvPr id="8" name="矩形: 圆角 7"/>
          <p:cNvSpPr/>
          <p:nvPr/>
        </p:nvSpPr>
        <p:spPr bwMode="auto">
          <a:xfrm>
            <a:off x="4630192" y="3678953"/>
            <a:ext cx="2990163" cy="832966"/>
          </a:xfrm>
          <a:prstGeom prst="roundRect">
            <a:avLst/>
          </a:prstGeom>
          <a:solidFill>
            <a:srgbClr val="FFFF00"/>
          </a:solidFill>
          <a:ln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Skinny64/64</a:t>
            </a:r>
            <a:r>
              <a:rPr lang="zh-CN" altLang="en-US" sz="2800" dirty="0"/>
              <a:t>算法</a:t>
            </a:r>
            <a:endParaRPr lang="zh-CN" altLang="en-US" sz="2800" dirty="0"/>
          </a:p>
        </p:txBody>
      </p:sp>
      <p:sp>
        <p:nvSpPr>
          <p:cNvPr id="9" name="矩形: 圆角 8"/>
          <p:cNvSpPr/>
          <p:nvPr/>
        </p:nvSpPr>
        <p:spPr bwMode="auto">
          <a:xfrm>
            <a:off x="1976385" y="5149286"/>
            <a:ext cx="1727771" cy="83296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可调参数更新</a:t>
            </a:r>
            <a:endParaRPr lang="zh-CN" altLang="en-US" sz="2800" dirty="0"/>
          </a:p>
        </p:txBody>
      </p:sp>
      <p:sp>
        <p:nvSpPr>
          <p:cNvPr id="10" name="左大括号 9"/>
          <p:cNvSpPr/>
          <p:nvPr/>
        </p:nvSpPr>
        <p:spPr bwMode="auto">
          <a:xfrm rot="5400000">
            <a:off x="5842317" y="1584913"/>
            <a:ext cx="573808" cy="6478275"/>
          </a:xfrm>
          <a:prstGeom prst="leftBrace">
            <a:avLst>
              <a:gd name="adj1" fmla="val 49322"/>
              <a:gd name="adj2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/>
          <p:cNvSpPr/>
          <p:nvPr/>
        </p:nvSpPr>
        <p:spPr bwMode="auto">
          <a:xfrm>
            <a:off x="8504473" y="5173074"/>
            <a:ext cx="1727771" cy="83296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加密算法</a:t>
            </a:r>
            <a:endParaRPr lang="zh-CN" altLang="en-US" sz="2800" dirty="0"/>
          </a:p>
        </p:txBody>
      </p:sp>
      <p:sp>
        <p:nvSpPr>
          <p:cNvPr id="13" name="矩形: 圆角 12"/>
          <p:cNvSpPr/>
          <p:nvPr/>
        </p:nvSpPr>
        <p:spPr bwMode="auto">
          <a:xfrm>
            <a:off x="5265335" y="5160952"/>
            <a:ext cx="1727771" cy="832966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解密算法</a:t>
            </a:r>
            <a:endParaRPr lang="zh-CN" altLang="en-US" sz="2800" dirty="0"/>
          </a:p>
        </p:txBody>
      </p:sp>
      <p:sp>
        <p:nvSpPr>
          <p:cNvPr id="14" name="矩形: 圆角 13"/>
          <p:cNvSpPr/>
          <p:nvPr/>
        </p:nvSpPr>
        <p:spPr bwMode="auto">
          <a:xfrm>
            <a:off x="0" y="6486923"/>
            <a:ext cx="2071867" cy="83296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2800" b="0" dirty="0"/>
              <a:t>置换</a:t>
            </a:r>
            <a:endParaRPr lang="zh-CN" altLang="en-US" sz="2800" b="0" dirty="0"/>
          </a:p>
        </p:txBody>
      </p:sp>
      <p:sp>
        <p:nvSpPr>
          <p:cNvPr id="16" name="矩形: 圆角 15"/>
          <p:cNvSpPr/>
          <p:nvPr/>
        </p:nvSpPr>
        <p:spPr bwMode="auto">
          <a:xfrm>
            <a:off x="1030633" y="7762243"/>
            <a:ext cx="2227325" cy="98225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sz="2800" b="0" dirty="0"/>
              <a:t>线性移位寄存器</a:t>
            </a:r>
            <a:endParaRPr lang="zh-CN" sz="2800" b="0" dirty="0"/>
          </a:p>
        </p:txBody>
      </p:sp>
      <p:cxnSp>
        <p:nvCxnSpPr>
          <p:cNvPr id="18" name="直接箭头连接符 17"/>
          <p:cNvCxnSpPr>
            <a:endCxn id="14" idx="0"/>
          </p:cNvCxnSpPr>
          <p:nvPr/>
        </p:nvCxnSpPr>
        <p:spPr bwMode="auto">
          <a:xfrm flipH="1">
            <a:off x="1035934" y="6006040"/>
            <a:ext cx="1684005" cy="480883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7030A0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19" name="直接箭头连接符 18"/>
          <p:cNvCxnSpPr>
            <a:endCxn id="16" idx="0"/>
          </p:cNvCxnSpPr>
          <p:nvPr/>
        </p:nvCxnSpPr>
        <p:spPr bwMode="auto">
          <a:xfrm flipH="1">
            <a:off x="2144296" y="6020583"/>
            <a:ext cx="583945" cy="1741660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7030A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21" name="箭头: 左右 20"/>
          <p:cNvSpPr/>
          <p:nvPr/>
        </p:nvSpPr>
        <p:spPr bwMode="auto">
          <a:xfrm>
            <a:off x="6993106" y="5359891"/>
            <a:ext cx="1502725" cy="399515"/>
          </a:xfrm>
          <a:prstGeom prst="leftRightArrow">
            <a:avLst/>
          </a:prstGeom>
          <a:solidFill>
            <a:srgbClr val="00B050"/>
          </a:solidFill>
          <a:ln>
            <a:headEnd type="none" w="med" len="med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/>
          <p:cNvSpPr/>
          <p:nvPr/>
        </p:nvSpPr>
        <p:spPr bwMode="auto">
          <a:xfrm>
            <a:off x="6574407" y="6499812"/>
            <a:ext cx="1727771" cy="81115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字压缩、解压缩</a:t>
            </a:r>
            <a:endParaRPr lang="zh-CN" altLang="en-US" sz="2800" dirty="0"/>
          </a:p>
        </p:txBody>
      </p:sp>
      <p:sp>
        <p:nvSpPr>
          <p:cNvPr id="23" name="矩形: 圆角 22"/>
          <p:cNvSpPr/>
          <p:nvPr/>
        </p:nvSpPr>
        <p:spPr bwMode="auto">
          <a:xfrm>
            <a:off x="8806815" y="6605270"/>
            <a:ext cx="1793875" cy="83312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字节代换</a:t>
            </a:r>
            <a:endParaRPr lang="zh-CN" altLang="en-US" sz="2800" dirty="0"/>
          </a:p>
        </p:txBody>
      </p:sp>
      <p:cxnSp>
        <p:nvCxnSpPr>
          <p:cNvPr id="24" name="直接箭头连接符 23"/>
          <p:cNvCxnSpPr>
            <a:endCxn id="22" idx="0"/>
          </p:cNvCxnSpPr>
          <p:nvPr/>
        </p:nvCxnSpPr>
        <p:spPr bwMode="auto">
          <a:xfrm flipH="1">
            <a:off x="7438293" y="6040058"/>
            <a:ext cx="2220905" cy="459754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25" name="直接箭头连接符 24"/>
          <p:cNvCxnSpPr>
            <a:endCxn id="23" idx="0"/>
          </p:cNvCxnSpPr>
          <p:nvPr/>
        </p:nvCxnSpPr>
        <p:spPr bwMode="auto">
          <a:xfrm>
            <a:off x="9670349" y="6028882"/>
            <a:ext cx="33655" cy="576580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30" name="文本框 29"/>
          <p:cNvSpPr txBox="1"/>
          <p:nvPr/>
        </p:nvSpPr>
        <p:spPr>
          <a:xfrm>
            <a:off x="7438335" y="5021020"/>
            <a:ext cx="48895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逆</a:t>
            </a:r>
            <a:endParaRPr lang="zh-CN" altLang="en-US" dirty="0"/>
          </a:p>
        </p:txBody>
      </p:sp>
      <p:sp>
        <p:nvSpPr>
          <p:cNvPr id="31" name="矩形: 圆角 30"/>
          <p:cNvSpPr/>
          <p:nvPr/>
        </p:nvSpPr>
        <p:spPr bwMode="auto">
          <a:xfrm>
            <a:off x="10748877" y="6514999"/>
            <a:ext cx="2060067" cy="83296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异或轮密钥和常量</a:t>
            </a:r>
            <a:endParaRPr lang="zh-CN" altLang="en-US" sz="2800" dirty="0"/>
          </a:p>
        </p:txBody>
      </p:sp>
      <p:cxnSp>
        <p:nvCxnSpPr>
          <p:cNvPr id="32" name="直接箭头连接符 31"/>
          <p:cNvCxnSpPr>
            <a:endCxn id="31" idx="0"/>
          </p:cNvCxnSpPr>
          <p:nvPr/>
        </p:nvCxnSpPr>
        <p:spPr bwMode="auto">
          <a:xfrm>
            <a:off x="9706544" y="6057457"/>
            <a:ext cx="2072367" cy="457542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47" name="矩形: 圆角 46"/>
          <p:cNvSpPr/>
          <p:nvPr/>
        </p:nvSpPr>
        <p:spPr bwMode="auto">
          <a:xfrm>
            <a:off x="4342160" y="7830005"/>
            <a:ext cx="2160240" cy="129526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算法子部件可逆</a:t>
            </a:r>
            <a:endParaRPr lang="zh-CN" altLang="en-US" sz="2800" dirty="0"/>
          </a:p>
        </p:txBody>
      </p:sp>
      <p:cxnSp>
        <p:nvCxnSpPr>
          <p:cNvPr id="48" name="直接箭头连接符 47"/>
          <p:cNvCxnSpPr>
            <a:endCxn id="47" idx="0"/>
          </p:cNvCxnSpPr>
          <p:nvPr/>
        </p:nvCxnSpPr>
        <p:spPr bwMode="auto">
          <a:xfrm flipH="1">
            <a:off x="5422280" y="5982252"/>
            <a:ext cx="504056" cy="1847753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4" name="直接箭头连接符 3"/>
          <p:cNvCxnSpPr/>
          <p:nvPr/>
        </p:nvCxnSpPr>
        <p:spPr bwMode="auto">
          <a:xfrm flipH="1">
            <a:off x="8146349" y="6028882"/>
            <a:ext cx="1512570" cy="1584325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5" name="矩形: 圆角 22"/>
          <p:cNvSpPr/>
          <p:nvPr/>
        </p:nvSpPr>
        <p:spPr bwMode="auto">
          <a:xfrm>
            <a:off x="7366635" y="7613015"/>
            <a:ext cx="1793875" cy="83312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列混淆</a:t>
            </a:r>
            <a:endParaRPr lang="zh-CN" altLang="en-US" sz="2800" dirty="0"/>
          </a:p>
        </p:txBody>
      </p:sp>
      <p:cxnSp>
        <p:nvCxnSpPr>
          <p:cNvPr id="7" name="直接箭头连接符 6"/>
          <p:cNvCxnSpPr/>
          <p:nvPr/>
        </p:nvCxnSpPr>
        <p:spPr bwMode="auto">
          <a:xfrm>
            <a:off x="9670349" y="6028882"/>
            <a:ext cx="1800225" cy="1944370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11" name="矩形: 圆角 22"/>
          <p:cNvSpPr/>
          <p:nvPr/>
        </p:nvSpPr>
        <p:spPr bwMode="auto">
          <a:xfrm>
            <a:off x="10606405" y="7978140"/>
            <a:ext cx="1751965" cy="62738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行移位</a:t>
            </a:r>
            <a:endParaRPr lang="zh-CN" altLang="en-US" sz="2800" dirty="0"/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1364474"/>
            <a:ext cx="13004800" cy="471924"/>
          </a:xfrm>
          <a:prstGeom prst="rect">
            <a:avLst/>
          </a:prstGeom>
          <a:solidFill>
            <a:srgbClr val="008000"/>
          </a:solidFill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50800" tIns="50800" rIns="50800" bIns="50800" numCol="1" rtlCol="0" anchor="ctr" anchorCtr="0" compatLnSpc="1"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37574" y="3364154"/>
            <a:ext cx="6130925" cy="40309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/>
              <a:t>主程序执行：</a:t>
            </a:r>
            <a:endParaRPr lang="en-US" altLang="zh-CN" sz="3200" dirty="0"/>
          </a:p>
          <a:p>
            <a:pPr algn="l"/>
            <a:endParaRPr lang="en-US" altLang="zh-CN" sz="3200" dirty="0"/>
          </a:p>
          <a:p>
            <a:pPr algn="l"/>
            <a:r>
              <a:rPr lang="en-US" altLang="zh-CN" sz="3200" dirty="0" err="1"/>
              <a:t>key_schedule</a:t>
            </a:r>
            <a:r>
              <a:rPr lang="en-US" altLang="zh-CN" sz="3200" dirty="0"/>
              <a:t>(tk, R);</a:t>
            </a:r>
            <a:endParaRPr lang="en-US" altLang="zh-CN" sz="3200" dirty="0"/>
          </a:p>
          <a:p>
            <a:pPr algn="l"/>
            <a:r>
              <a:rPr lang="en-US" altLang="zh-CN" sz="3200" dirty="0" err="1">
                <a:sym typeface="+mn-ea"/>
              </a:rPr>
              <a:t>Constant_schedule</a:t>
            </a:r>
            <a:r>
              <a:rPr lang="en-US" altLang="zh-CN" sz="3200" dirty="0">
                <a:sym typeface="+mn-ea"/>
              </a:rPr>
              <a:t>(rc, R);</a:t>
            </a:r>
            <a:endParaRPr lang="en-US" altLang="zh-CN" sz="3200" dirty="0"/>
          </a:p>
          <a:p>
            <a:pPr algn="l"/>
            <a:endParaRPr lang="en-US" altLang="zh-CN" sz="3200" dirty="0"/>
          </a:p>
          <a:p>
            <a:pPr algn="l"/>
            <a:r>
              <a:rPr lang="en-US" altLang="zh-CN" sz="3200" dirty="0" err="1"/>
              <a:t>skinny_encrypt</a:t>
            </a:r>
            <a:r>
              <a:rPr lang="en-US" altLang="zh-CN" sz="3200" dirty="0"/>
              <a:t>(</a:t>
            </a:r>
            <a:r>
              <a:rPr lang="en-US" altLang="zh-CN" sz="3200" dirty="0">
                <a:solidFill>
                  <a:srgbClr val="350FF1"/>
                </a:solidFill>
              </a:rPr>
              <a:t>pt</a:t>
            </a:r>
            <a:r>
              <a:rPr lang="en-US" altLang="zh-CN" sz="3200" dirty="0"/>
              <a:t>,</a:t>
            </a:r>
            <a:r>
              <a:rPr lang="en-US" altLang="zh-CN" sz="3200" dirty="0" err="1">
                <a:solidFill>
                  <a:srgbClr val="350FF1"/>
                </a:solidFill>
              </a:rPr>
              <a:t>tk</a:t>
            </a:r>
            <a:r>
              <a:rPr lang="en-US" altLang="zh-CN" sz="3200" dirty="0"/>
              <a:t>,rc,</a:t>
            </a:r>
            <a:r>
              <a:rPr lang="en-US" altLang="zh-CN" sz="3200" dirty="0" err="1">
                <a:solidFill>
                  <a:srgbClr val="350FF1"/>
                </a:solidFill>
              </a:rPr>
              <a:t>ct</a:t>
            </a:r>
            <a:r>
              <a:rPr lang="en-US" altLang="zh-CN" sz="3200" dirty="0"/>
              <a:t>);</a:t>
            </a:r>
            <a:endParaRPr lang="en-US" altLang="zh-CN" sz="3200" dirty="0"/>
          </a:p>
          <a:p>
            <a:pPr algn="l"/>
            <a:r>
              <a:rPr lang="en-US" altLang="zh-CN" sz="3200" dirty="0" err="1">
                <a:solidFill>
                  <a:schemeClr val="tx1"/>
                </a:solidFill>
              </a:rPr>
              <a:t>skinny_</a:t>
            </a:r>
            <a:r>
              <a:rPr lang="en-US" altLang="zh-CN" sz="3200" dirty="0"/>
              <a:t>decrypt(</a:t>
            </a:r>
            <a:r>
              <a:rPr lang="en-US" altLang="zh-CN" sz="3200" dirty="0" err="1">
                <a:solidFill>
                  <a:srgbClr val="FF0000"/>
                </a:solidFill>
              </a:rPr>
              <a:t>ct</a:t>
            </a:r>
            <a:r>
              <a:rPr lang="en-US" altLang="zh-CN" sz="3200" dirty="0"/>
              <a:t>,</a:t>
            </a:r>
            <a:r>
              <a:rPr lang="en-US" altLang="zh-CN" sz="3200" dirty="0" err="1">
                <a:solidFill>
                  <a:srgbClr val="FF0000"/>
                </a:solidFill>
              </a:rPr>
              <a:t>tkd</a:t>
            </a:r>
            <a:r>
              <a:rPr lang="en-US" altLang="zh-CN" sz="3200" dirty="0"/>
              <a:t>,rc,</a:t>
            </a:r>
            <a:r>
              <a:rPr lang="en-US" altLang="zh-CN" sz="3200" dirty="0">
                <a:solidFill>
                  <a:srgbClr val="FF0000"/>
                </a:solidFill>
              </a:rPr>
              <a:t>pt</a:t>
            </a:r>
            <a:r>
              <a:rPr lang="en-US" altLang="zh-CN" sz="3200" dirty="0"/>
              <a:t>);</a:t>
            </a:r>
            <a:endParaRPr lang="en-US" altLang="zh-CN" sz="3200" dirty="0"/>
          </a:p>
          <a:p>
            <a:endParaRPr lang="en-US" altLang="zh-CN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6862187" y="3220859"/>
                <a:ext cx="5507990" cy="52622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2800" dirty="0"/>
                  <a:t>加密函数：</a:t>
                </a:r>
                <a:endParaRPr lang="en-US" altLang="zh-CN" sz="2800" dirty="0"/>
              </a:p>
              <a:p>
                <a:pPr algn="l"/>
                <a:r>
                  <a:rPr lang="en-US" altLang="zh-CN" sz="2800" dirty="0" err="1"/>
                  <a:t>skinny_encrypt</a:t>
                </a:r>
                <a:r>
                  <a:rPr lang="en-US" altLang="zh-CN" sz="2800" dirty="0"/>
                  <a:t>(pt,t</a:t>
                </a:r>
                <a:r>
                  <a:rPr lang="en-US" altLang="zh-CN" sz="2800" dirty="0" err="1"/>
                  <a:t>k</a:t>
                </a:r>
                <a:r>
                  <a:rPr lang="en-US" altLang="zh-CN" sz="2800" dirty="0"/>
                  <a:t>,rc,</a:t>
                </a:r>
                <a:r>
                  <a:rPr lang="en-US" altLang="zh-CN" sz="2800" dirty="0" err="1"/>
                  <a:t>ct</a:t>
                </a:r>
                <a:r>
                  <a:rPr lang="en-US" altLang="zh-CN" sz="2800" dirty="0"/>
                  <a:t>){</a:t>
                </a:r>
                <a:endParaRPr lang="en-US" altLang="zh-CN" sz="2800" dirty="0"/>
              </a:p>
              <a:p>
                <a:pPr algn="l"/>
                <a:r>
                  <a:rPr lang="en-US" altLang="zh-CN" sz="2800" dirty="0"/>
                  <a:t>	</a:t>
                </a:r>
                <a:r>
                  <a:rPr lang="en-US" altLang="zh-CN" sz="2800" dirty="0">
                    <a:solidFill>
                      <a:schemeClr val="tx1"/>
                    </a:solidFill>
                  </a:rPr>
                  <a:t>uint32_t </a:t>
                </a:r>
                <a:r>
                  <a:rPr lang="en-US" altLang="zh-CN" sz="2800" dirty="0">
                    <a:solidFill>
                      <a:srgbClr val="350FF1"/>
                    </a:solidFill>
                  </a:rPr>
                  <a:t>X </a:t>
                </a:r>
                <a:r>
                  <a:rPr lang="en-US" altLang="zh-CN" sz="2800" dirty="0">
                    <a:solidFill>
                      <a:srgbClr val="350FF1"/>
                    </a:solidFill>
                    <a:sym typeface="Wingdings" panose="05000000000000000000" pitchFamily="2" charset="2"/>
                  </a:rPr>
                  <a:t> pt;</a:t>
                </a:r>
                <a:endParaRPr lang="en-US" altLang="zh-CN" sz="2800" dirty="0">
                  <a:solidFill>
                    <a:srgbClr val="350FF1"/>
                  </a:solidFill>
                </a:endParaRPr>
              </a:p>
              <a:p>
                <a:pPr algn="l"/>
                <a:r>
                  <a:rPr lang="en-US" altLang="zh-CN" sz="2800" dirty="0"/>
                  <a:t>	for 0</a:t>
                </a:r>
                <a14:m>
                  <m:oMath xmlns:m="http://schemas.openxmlformats.org/officeDocument/2006/math">
                    <m:r>
                      <a:rPr lang="en-US" altLang="zh-CN" sz="2800" b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CN" sz="2800" dirty="0"/>
                  <a:t>r</a:t>
                </a:r>
                <a14:m>
                  <m:oMath xmlns:m="http://schemas.openxmlformats.org/officeDocument/2006/math">
                    <m:r>
                      <a:rPr lang="en-US" altLang="zh-CN" sz="2800" b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altLang="zh-CN" sz="2800" dirty="0"/>
                  <a:t>R do{</a:t>
                </a:r>
                <a:endParaRPr lang="en-US" altLang="zh-CN" sz="2800" dirty="0"/>
              </a:p>
              <a:p>
                <a:pPr marL="914400" lvl="2" indent="457200" algn="l"/>
                <a:r>
                  <a:rPr lang="en-US" altLang="zh-CN" sz="2800" dirty="0"/>
                  <a:t>Sbox(X);</a:t>
                </a:r>
                <a:endParaRPr lang="en-US" altLang="zh-CN" sz="2800" dirty="0"/>
              </a:p>
              <a:p>
                <a:pPr marL="914400" lvl="2" indent="457200" algn="l"/>
                <a:r>
                  <a:rPr lang="en-US" altLang="zh-CN" sz="2800" dirty="0">
                    <a:solidFill>
                      <a:schemeClr val="tx1"/>
                    </a:solidFill>
                  </a:rPr>
                  <a:t>Addconstants(rc[r],X);</a:t>
                </a:r>
                <a:endParaRPr lang="en-US" altLang="zh-CN" sz="2800" dirty="0">
                  <a:solidFill>
                    <a:schemeClr val="tx1"/>
                  </a:solidFill>
                </a:endParaRPr>
              </a:p>
              <a:p>
                <a:pPr marL="914400" lvl="2" indent="457200" algn="l"/>
                <a:r>
                  <a:rPr lang="en-US" altLang="zh-CN" sz="2800" dirty="0">
                    <a:solidFill>
                      <a:schemeClr val="tx1"/>
                    </a:solidFill>
                  </a:rPr>
                  <a:t>AddTweakey(TK1[r],X);</a:t>
                </a:r>
                <a:endParaRPr lang="en-US" altLang="zh-CN" sz="2800" dirty="0">
                  <a:solidFill>
                    <a:schemeClr val="tx1"/>
                  </a:solidFill>
                </a:endParaRPr>
              </a:p>
              <a:p>
                <a:pPr marL="914400" lvl="2" indent="457200" algn="l"/>
                <a:r>
                  <a:rPr lang="en-US" altLang="zh-CN" sz="2800" dirty="0">
                    <a:solidFill>
                      <a:schemeClr val="tx1"/>
                    </a:solidFill>
                  </a:rPr>
                  <a:t>ShiftRows(X);</a:t>
                </a:r>
                <a:endParaRPr lang="en-US" altLang="zh-CN" sz="2800" dirty="0">
                  <a:solidFill>
                    <a:schemeClr val="tx1"/>
                  </a:solidFill>
                </a:endParaRPr>
              </a:p>
              <a:p>
                <a:pPr marL="914400" lvl="2" indent="457200" algn="l"/>
                <a:r>
                  <a:rPr lang="en-US" altLang="zh-CN" sz="2800" dirty="0">
                    <a:solidFill>
                      <a:schemeClr val="tx1"/>
                    </a:solidFill>
                  </a:rPr>
                  <a:t>MixColumns(X);</a:t>
                </a:r>
                <a:endParaRPr lang="en-US" altLang="zh-CN" sz="2800" dirty="0">
                  <a:solidFill>
                    <a:schemeClr val="tx1"/>
                  </a:solidFill>
                </a:endParaRPr>
              </a:p>
              <a:p>
                <a:pPr algn="l"/>
                <a:r>
                  <a:rPr lang="en-US" altLang="zh-CN" sz="2800" dirty="0"/>
                  <a:t>	}</a:t>
                </a:r>
                <a:endParaRPr lang="en-US" altLang="zh-CN" sz="2800" dirty="0"/>
              </a:p>
              <a:p>
                <a:pPr algn="l"/>
                <a:r>
                  <a:rPr lang="en-US" altLang="zh-CN" sz="2800" dirty="0"/>
                  <a:t>	</a:t>
                </a:r>
                <a:r>
                  <a:rPr lang="en-US" altLang="zh-CN" sz="2800" dirty="0" err="1">
                    <a:solidFill>
                      <a:srgbClr val="350FF1"/>
                    </a:solidFill>
                  </a:rPr>
                  <a:t>ct</a:t>
                </a:r>
                <a:r>
                  <a:rPr lang="en-US" altLang="zh-CN" sz="2800" dirty="0"/>
                  <a:t> </a:t>
                </a:r>
                <a:r>
                  <a:rPr lang="en-US" altLang="zh-CN" sz="2800" dirty="0">
                    <a:solidFill>
                      <a:srgbClr val="350FF1"/>
                    </a:solidFill>
                    <a:sym typeface="Wingdings" panose="05000000000000000000" pitchFamily="2" charset="2"/>
                  </a:rPr>
                  <a:t> X;</a:t>
                </a:r>
                <a:endParaRPr lang="en-US" altLang="zh-CN" sz="2800" dirty="0"/>
              </a:p>
              <a:p>
                <a:pPr algn="l"/>
                <a:r>
                  <a:rPr lang="en-US" altLang="zh-CN" sz="2800" dirty="0"/>
                  <a:t>}</a:t>
                </a:r>
                <a:endParaRPr lang="en-US" altLang="zh-CN" sz="2800" dirty="0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2187" y="3220859"/>
                <a:ext cx="5507990" cy="5262245"/>
              </a:xfrm>
              <a:prstGeom prst="rect">
                <a:avLst/>
              </a:prstGeom>
              <a:blipFill rotWithShape="1">
                <a:blip r:embed="rId1"/>
                <a:stretch>
                  <a:fillRect l="-7" t="-3" r="-1561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813386" y="2093012"/>
            <a:ext cx="10728352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600" dirty="0">
                <a:solidFill>
                  <a:srgbClr val="350FF1"/>
                </a:solidFill>
              </a:rPr>
              <a:t>Skinny64/64</a:t>
            </a:r>
            <a:r>
              <a:rPr lang="zh-CN" altLang="en-US" sz="3600" dirty="0">
                <a:solidFill>
                  <a:srgbClr val="350FF1"/>
                </a:solidFill>
              </a:rPr>
              <a:t>：</a:t>
            </a:r>
            <a:r>
              <a:rPr lang="en-US" altLang="zh-CN" sz="3600" dirty="0"/>
              <a:t>n = 64, t = 64, R = 32</a:t>
            </a:r>
            <a:endParaRPr lang="en-US" altLang="zh-CN" sz="3600" dirty="0"/>
          </a:p>
        </p:txBody>
      </p:sp>
      <p:sp>
        <p:nvSpPr>
          <p:cNvPr id="17" name="Rectangle 1"/>
          <p:cNvSpPr txBox="1">
            <a:spLocks noChangeArrowheads="1"/>
          </p:cNvSpPr>
          <p:nvPr/>
        </p:nvSpPr>
        <p:spPr bwMode="auto">
          <a:xfrm>
            <a:off x="742315" y="459105"/>
            <a:ext cx="9603740" cy="720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b" anchorCtr="0" compatLnSpc="1"/>
          <a:lstStyle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6000" kern="120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 Neue Medium" charset="0"/>
              </a:defRPr>
            </a:lvl1pPr>
            <a:lvl2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2pPr>
            <a:lvl3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3pPr>
            <a:lvl4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4pPr>
            <a:lvl5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5pPr>
            <a:lvl6pPr marL="4572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6pPr>
            <a:lvl7pPr marL="9144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7pPr>
            <a:lvl8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8pPr>
            <a:lvl9pPr marL="18288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9pPr>
          </a:lstStyle>
          <a:p>
            <a:pPr algn="l" eaLnBrk="1">
              <a:defRPr/>
            </a:pPr>
            <a:r>
              <a:rPr lang="en-US" altLang="zh-CN" sz="5400" dirty="0">
                <a:solidFill>
                  <a:srgbClr val="008000"/>
                </a:solidFill>
                <a:latin typeface="+mn-ea"/>
                <a:ea typeface="+mn-ea"/>
                <a:cs typeface="Times New Roman" panose="02020603050405020304" pitchFamily="18" charset="0"/>
              </a:rPr>
              <a:t>5.3 Skinny64/64</a:t>
            </a:r>
            <a:r>
              <a:rPr lang="zh-CN" altLang="en-US" sz="5400" dirty="0">
                <a:solidFill>
                  <a:srgbClr val="008000"/>
                </a:solidFill>
                <a:latin typeface="+mn-ea"/>
                <a:ea typeface="+mn-ea"/>
                <a:cs typeface="Times New Roman" panose="02020603050405020304" pitchFamily="18" charset="0"/>
              </a:rPr>
              <a:t>算法实现</a:t>
            </a:r>
            <a:endParaRPr lang="zh-CN" altLang="zh-CN" sz="5400" dirty="0">
              <a:solidFill>
                <a:srgbClr val="008000"/>
              </a:solidFill>
              <a:latin typeface="+mn-ea"/>
              <a:ea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90055" y="8620760"/>
            <a:ext cx="55854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在需要的位置进行压缩，解压缩操作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1364474"/>
            <a:ext cx="13004800" cy="471924"/>
          </a:xfrm>
          <a:prstGeom prst="rect">
            <a:avLst/>
          </a:prstGeom>
          <a:solidFill>
            <a:srgbClr val="008000"/>
          </a:solidFill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50800" tIns="50800" rIns="50800" bIns="50800" numCol="1" rtlCol="0" anchor="ctr" anchorCtr="0" compatLnSpc="1"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137920" y="2284730"/>
                <a:ext cx="11068050" cy="42754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3600" dirty="0">
                    <a:solidFill>
                      <a:srgbClr val="350FF1"/>
                    </a:solidFill>
                  </a:rPr>
                  <a:t>数据类型：</a:t>
                </a:r>
                <a:r>
                  <a:rPr lang="en-US" altLang="zh-CN" sz="3600" dirty="0">
                    <a:solidFill>
                      <a:schemeClr val="tx1"/>
                    </a:solidFill>
                  </a:rPr>
                  <a:t>Skinny64/64</a:t>
                </a:r>
                <a:r>
                  <a:rPr lang="zh-CN" altLang="en-US" sz="3600" dirty="0">
                    <a:solidFill>
                      <a:srgbClr val="350FF1"/>
                    </a:solidFill>
                  </a:rPr>
                  <a:t>明文分组为</a:t>
                </a:r>
                <a:r>
                  <a:rPr lang="en-US" altLang="zh-CN" sz="3600" dirty="0">
                    <a:solidFill>
                      <a:srgbClr val="350FF1"/>
                    </a:solidFill>
                  </a:rPr>
                  <a:t>64</a:t>
                </a:r>
                <a:r>
                  <a:rPr lang="zh-CN" altLang="en-US" sz="3600" dirty="0">
                    <a:solidFill>
                      <a:schemeClr val="tx1"/>
                    </a:solidFill>
                  </a:rPr>
                  <a:t>比特，但核心轮函数存在</a:t>
                </a:r>
                <a:r>
                  <a:rPr lang="zh-CN" altLang="en-US" sz="3600" dirty="0">
                    <a:solidFill>
                      <a:srgbClr val="350FF1"/>
                    </a:solidFill>
                  </a:rPr>
                  <a:t>对</a:t>
                </a:r>
                <a:r>
                  <a:rPr lang="en-US" altLang="zh-CN" sz="3600" dirty="0">
                    <a:solidFill>
                      <a:srgbClr val="350FF1"/>
                    </a:solidFill>
                  </a:rPr>
                  <a:t>(4</a:t>
                </a:r>
                <a:r>
                  <a:rPr lang="zh-CN" altLang="en-US" sz="3600" dirty="0">
                    <a:solidFill>
                      <a:srgbClr val="350FF1"/>
                    </a:solidFill>
                  </a:rPr>
                  <a:t>比特或</a:t>
                </a:r>
                <a:r>
                  <a:rPr lang="en-US" altLang="zh-CN" sz="3600" dirty="0">
                    <a:solidFill>
                      <a:srgbClr val="350FF1"/>
                    </a:solidFill>
                  </a:rPr>
                  <a:t>8</a:t>
                </a:r>
                <a:r>
                  <a:rPr lang="zh-CN" altLang="en-US" sz="3600" dirty="0">
                    <a:solidFill>
                      <a:srgbClr val="350FF1"/>
                    </a:solidFill>
                  </a:rPr>
                  <a:t>比特</a:t>
                </a:r>
                <a14:m>
                  <m:oMath xmlns:m="http://schemas.openxmlformats.org/officeDocument/2006/math">
                    <m:r>
                      <a:rPr lang="en-US" altLang="zh-CN" sz="3600" b="1" i="1" dirty="0">
                        <a:solidFill>
                          <a:srgbClr val="350FF1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sz="3600" dirty="0">
                    <a:solidFill>
                      <a:srgbClr val="350FF1"/>
                    </a:solidFill>
                  </a:rPr>
                  <a:t>16)</a:t>
                </a:r>
                <a:r>
                  <a:rPr lang="zh-CN" altLang="en-US" sz="3600" dirty="0">
                    <a:solidFill>
                      <a:srgbClr val="350FF1"/>
                    </a:solidFill>
                  </a:rPr>
                  <a:t>或对整体</a:t>
                </a:r>
                <a:r>
                  <a:rPr lang="en-US" altLang="zh-CN" sz="3600" dirty="0">
                    <a:solidFill>
                      <a:srgbClr val="350FF1"/>
                    </a:solidFill>
                  </a:rPr>
                  <a:t>64</a:t>
                </a:r>
                <a:r>
                  <a:rPr lang="zh-CN" altLang="en-US" sz="3600" dirty="0">
                    <a:solidFill>
                      <a:srgbClr val="350FF1"/>
                    </a:solidFill>
                  </a:rPr>
                  <a:t>比特两种操作</a:t>
                </a:r>
                <a:r>
                  <a:rPr lang="zh-CN" altLang="en-US" sz="3600" dirty="0">
                    <a:solidFill>
                      <a:schemeClr val="tx1"/>
                    </a:solidFill>
                  </a:rPr>
                  <a:t>，因此额外考虑</a:t>
                </a:r>
                <a:r>
                  <a:rPr lang="zh-CN" altLang="en-US" sz="3600" dirty="0">
                    <a:solidFill>
                      <a:srgbClr val="FF0000"/>
                    </a:solidFill>
                  </a:rPr>
                  <a:t>压缩、解压</a:t>
                </a:r>
                <a:r>
                  <a:rPr lang="zh-CN" altLang="en-US" sz="3600" dirty="0">
                    <a:solidFill>
                      <a:schemeClr val="tx1"/>
                    </a:solidFill>
                  </a:rPr>
                  <a:t>缩操作。</a:t>
                </a:r>
                <a:endParaRPr lang="zh-CN" altLang="en-US" sz="3600" dirty="0">
                  <a:solidFill>
                    <a:schemeClr val="tx1"/>
                  </a:solidFill>
                </a:endParaRPr>
              </a:p>
              <a:p>
                <a:pPr marL="457200" indent="-457200" algn="ju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3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内部状态数据类型</a:t>
                </a:r>
                <a:r>
                  <a:rPr lang="zh-CN" altLang="en-US" sz="3600" dirty="0"/>
                  <a:t>可初始定义为</a:t>
                </a:r>
                <a:r>
                  <a:rPr lang="en-US" altLang="zh-CN" sz="3600" dirty="0">
                    <a:solidFill>
                      <a:srgbClr val="006600"/>
                    </a:solidFill>
                  </a:rPr>
                  <a:t>unsigned short int </a:t>
                </a:r>
                <a:r>
                  <a:rPr lang="en-US" altLang="zh-CN" sz="3600" dirty="0"/>
                  <a:t>(</a:t>
                </a:r>
                <a:r>
                  <a:rPr lang="en-US" altLang="zh-CN" sz="3600" dirty="0">
                    <a:solidFill>
                      <a:srgbClr val="006600"/>
                    </a:solidFill>
                  </a:rPr>
                  <a:t>uint64_t</a:t>
                </a:r>
                <a:r>
                  <a:rPr lang="en-US" altLang="zh-CN" sz="3600" dirty="0"/>
                  <a:t>)</a:t>
                </a:r>
                <a:r>
                  <a:rPr lang="zh-CN" altLang="en-US" sz="3600" dirty="0"/>
                  <a:t>。</a:t>
                </a:r>
                <a:endParaRPr lang="en-US" altLang="zh-CN" sz="3600" dirty="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920" y="2284730"/>
                <a:ext cx="11068050" cy="427545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1030605" y="6532880"/>
            <a:ext cx="1124775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600" dirty="0">
                <a:solidFill>
                  <a:srgbClr val="350FF1"/>
                </a:solidFill>
              </a:rPr>
              <a:t>加密</a:t>
            </a:r>
            <a:r>
              <a:rPr lang="en-US" altLang="zh-CN" sz="3600" dirty="0">
                <a:solidFill>
                  <a:srgbClr val="350FF1"/>
                </a:solidFill>
              </a:rPr>
              <a:t>skinny64</a:t>
            </a:r>
            <a:r>
              <a:rPr lang="zh-CN" altLang="en-US" sz="3600" dirty="0">
                <a:solidFill>
                  <a:srgbClr val="350FF1"/>
                </a:solidFill>
              </a:rPr>
              <a:t>参数：</a:t>
            </a:r>
            <a:r>
              <a:rPr lang="zh-CN" altLang="en-US" sz="3600" dirty="0">
                <a:solidFill>
                  <a:schemeClr val="tx1"/>
                </a:solidFill>
              </a:rPr>
              <a:t>加密函数参数为</a:t>
            </a:r>
            <a:r>
              <a:rPr lang="zh-CN" altLang="en-US" sz="3600" dirty="0">
                <a:solidFill>
                  <a:srgbClr val="FF0000"/>
                </a:solidFill>
              </a:rPr>
              <a:t>输入明文</a:t>
            </a:r>
            <a:r>
              <a:rPr lang="zh-CN" altLang="en-US" sz="3600" dirty="0">
                <a:solidFill>
                  <a:schemeClr val="tx1"/>
                </a:solidFill>
              </a:rPr>
              <a:t>，</a:t>
            </a:r>
            <a:r>
              <a:rPr lang="zh-CN" altLang="en-US" sz="3600" dirty="0">
                <a:solidFill>
                  <a:srgbClr val="FF0000"/>
                </a:solidFill>
              </a:rPr>
              <a:t>轮可调密钥</a:t>
            </a:r>
            <a:r>
              <a:rPr lang="zh-CN" altLang="en-US" sz="3600" dirty="0">
                <a:solidFill>
                  <a:schemeClr val="tx1"/>
                </a:solidFill>
              </a:rPr>
              <a:t>，</a:t>
            </a:r>
            <a:r>
              <a:rPr lang="zh-CN" altLang="en-US" sz="3600" dirty="0">
                <a:solidFill>
                  <a:srgbClr val="FF0000"/>
                </a:solidFill>
              </a:rPr>
              <a:t>输出密文。</a:t>
            </a:r>
            <a:endParaRPr lang="en-US" altLang="zh-CN" sz="3600" dirty="0">
              <a:solidFill>
                <a:schemeClr val="tx1"/>
              </a:solidFill>
            </a:endParaRPr>
          </a:p>
        </p:txBody>
      </p:sp>
      <p:sp>
        <p:nvSpPr>
          <p:cNvPr id="17" name="Rectangle 1"/>
          <p:cNvSpPr txBox="1">
            <a:spLocks noChangeArrowheads="1"/>
          </p:cNvSpPr>
          <p:nvPr/>
        </p:nvSpPr>
        <p:spPr bwMode="auto">
          <a:xfrm>
            <a:off x="742315" y="459105"/>
            <a:ext cx="9603740" cy="720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b" anchorCtr="0" compatLnSpc="1"/>
          <a:lstStyle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6000" kern="120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 Neue Medium" charset="0"/>
              </a:defRPr>
            </a:lvl1pPr>
            <a:lvl2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2pPr>
            <a:lvl3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3pPr>
            <a:lvl4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4pPr>
            <a:lvl5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5pPr>
            <a:lvl6pPr marL="4572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6pPr>
            <a:lvl7pPr marL="9144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7pPr>
            <a:lvl8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8pPr>
            <a:lvl9pPr marL="18288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9pPr>
          </a:lstStyle>
          <a:p>
            <a:pPr algn="l" eaLnBrk="1">
              <a:defRPr/>
            </a:pPr>
            <a:r>
              <a:rPr lang="en-US" altLang="zh-CN" sz="5400" dirty="0">
                <a:solidFill>
                  <a:srgbClr val="008000"/>
                </a:solidFill>
                <a:latin typeface="+mn-ea"/>
                <a:ea typeface="+mn-ea"/>
                <a:cs typeface="Times New Roman" panose="02020603050405020304" pitchFamily="18" charset="0"/>
              </a:rPr>
              <a:t>5.3 Skinny64/64</a:t>
            </a:r>
            <a:r>
              <a:rPr lang="zh-CN" altLang="en-US" sz="5400" dirty="0">
                <a:solidFill>
                  <a:srgbClr val="008000"/>
                </a:solidFill>
                <a:latin typeface="+mn-ea"/>
                <a:ea typeface="+mn-ea"/>
                <a:cs typeface="Times New Roman" panose="02020603050405020304" pitchFamily="18" charset="0"/>
              </a:rPr>
              <a:t>算法实现</a:t>
            </a:r>
            <a:endParaRPr lang="zh-CN" altLang="zh-CN" sz="5400" dirty="0">
              <a:solidFill>
                <a:srgbClr val="008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1364474"/>
            <a:ext cx="13004800" cy="471924"/>
          </a:xfrm>
          <a:prstGeom prst="rect">
            <a:avLst/>
          </a:prstGeom>
          <a:solidFill>
            <a:srgbClr val="008000"/>
          </a:solidFill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50800" tIns="50800" rIns="50800" bIns="50800" numCol="1" rtlCol="0" anchor="ctr" anchorCtr="0" compatLnSpc="1"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25483" y="2237730"/>
            <a:ext cx="53014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altLang="zh-CN" sz="3600" dirty="0">
                <a:solidFill>
                  <a:srgbClr val="350FF1"/>
                </a:solidFill>
              </a:rPr>
              <a:t>skinny128</a:t>
            </a:r>
            <a:r>
              <a:rPr lang="zh-CN" altLang="en-US" sz="3600" dirty="0">
                <a:solidFill>
                  <a:srgbClr val="350FF1"/>
                </a:solidFill>
              </a:rPr>
              <a:t>测试向量：</a:t>
            </a:r>
            <a:endParaRPr lang="en-US" altLang="zh-CN" sz="3600" dirty="0">
              <a:solidFill>
                <a:srgbClr val="350FF1"/>
              </a:solidFill>
            </a:endParaRPr>
          </a:p>
        </p:txBody>
      </p:sp>
      <p:sp>
        <p:nvSpPr>
          <p:cNvPr id="17" name="Rectangle 1"/>
          <p:cNvSpPr txBox="1">
            <a:spLocks noChangeArrowheads="1"/>
          </p:cNvSpPr>
          <p:nvPr/>
        </p:nvSpPr>
        <p:spPr bwMode="auto">
          <a:xfrm>
            <a:off x="742315" y="459105"/>
            <a:ext cx="9603740" cy="720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b" anchorCtr="0" compatLnSpc="1"/>
          <a:lstStyle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6000" kern="120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 Neue Medium" charset="0"/>
              </a:defRPr>
            </a:lvl1pPr>
            <a:lvl2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2pPr>
            <a:lvl3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3pPr>
            <a:lvl4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4pPr>
            <a:lvl5pPr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5pPr>
            <a:lvl6pPr marL="4572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6pPr>
            <a:lvl7pPr marL="9144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7pPr>
            <a:lvl8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8pPr>
            <a:lvl9pPr marL="1828800" algn="ctr" defTabSz="584200" rtl="0" fontAlgn="base" hangingPunct="0">
              <a:spcBef>
                <a:spcPct val="0"/>
              </a:spcBef>
              <a:spcAft>
                <a:spcPct val="0"/>
              </a:spcAft>
              <a:defRPr sz="8000">
                <a:solidFill>
                  <a:srgbClr val="000000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defRPr>
            </a:lvl9pPr>
          </a:lstStyle>
          <a:p>
            <a:pPr algn="l" eaLnBrk="1">
              <a:defRPr/>
            </a:pPr>
            <a:r>
              <a:rPr lang="en-US" altLang="zh-CN" sz="5400">
                <a:solidFill>
                  <a:srgbClr val="008000"/>
                </a:solidFill>
                <a:latin typeface="+mn-ea"/>
                <a:ea typeface="+mn-ea"/>
                <a:cs typeface="Times New Roman" panose="02020603050405020304" pitchFamily="18" charset="0"/>
              </a:rPr>
              <a:t>6.2 Skinny128</a:t>
            </a:r>
            <a:r>
              <a:rPr lang="zh-CN" altLang="en-US" sz="5400" dirty="0">
                <a:solidFill>
                  <a:srgbClr val="008000"/>
                </a:solidFill>
                <a:latin typeface="+mn-ea"/>
                <a:ea typeface="+mn-ea"/>
                <a:cs typeface="Times New Roman" panose="02020603050405020304" pitchFamily="18" charset="0"/>
              </a:rPr>
              <a:t>算法实现</a:t>
            </a:r>
            <a:endParaRPr lang="zh-CN" altLang="zh-CN" sz="5400" dirty="0">
              <a:solidFill>
                <a:srgbClr val="008000"/>
              </a:solidFill>
              <a:latin typeface="+mn-ea"/>
              <a:ea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9952" y="3098112"/>
            <a:ext cx="8064896" cy="5282034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cd7b77aa-a18c-49b6-9c93-cb78f3556378"/>
  <p:tag name="COMMONDATA" val="eyJoZGlkIjoiZDdhZTY4YzYwMDE5MTc0Y2ZiZWY4NTkyNWEwNWIxNGEifQ=="/>
</p:tagLst>
</file>

<file path=ppt/theme/theme1.xml><?xml version="1.0" encoding="utf-8"?>
<a:theme xmlns:a="http://schemas.openxmlformats.org/drawingml/2006/main" name="White">
  <a:themeElements>
    <a:clrScheme name="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ln>
          <a:headEnd type="none" w="med" len="med"/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spDef>
    <a:lnDef>
      <a:spPr bwMode="auto">
        <a:solidFill>
          <a:srgbClr val="FFFFFF"/>
        </a:solidFill>
        <a:ln w="38100" cap="flat" cmpd="sng" algn="ctr">
          <a:solidFill>
            <a:srgbClr val="FF0000"/>
          </a:solidFill>
          <a:prstDash val="solid"/>
          <a:round/>
          <a:headEnd type="none" w="med" len="med"/>
          <a:tailEnd type="triangle"/>
        </a:ln>
      </a:spPr>
      <a:bodyPr/>
      <a:lstStyle/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hite">
  <a:themeElements>
    <a:clrScheme name="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tx2">
            <a:lumMod val="20000"/>
            <a:lumOff val="80000"/>
          </a:schemeClr>
        </a:solid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a:spPr>
      <a:bodyPr vert="horz" wrap="square" lIns="50800" tIns="50800" rIns="50800" bIns="50800" numCol="1" rtlCol="0" anchor="ctr" anchorCtr="0" compatLnSpc="1">
        <a:spAutoFit/>
      </a:bodyPr>
      <a:lstStyle>
        <a:defPPr marL="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sz="2400" b="1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254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square" lIns="50800" tIns="50800" rIns="50800" bIns="50800" numCol="1" anchor="ctr" anchorCtr="0" compatLnSpc="1">
        <a:spAutoFit/>
      </a:bodyPr>
      <a:lstStyle>
        <a:defPPr marL="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zh-CN" sz="2400" b="1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3392</Words>
  <Application>WPS 演示</Application>
  <PresentationFormat>自定义</PresentationFormat>
  <Paragraphs>223</Paragraphs>
  <Slides>22</Slides>
  <Notes>19</Notes>
  <HiddenSlides>3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22</vt:i4>
      </vt:variant>
    </vt:vector>
  </HeadingPairs>
  <TitlesOfParts>
    <vt:vector size="40" baseType="lpstr">
      <vt:lpstr>Arial</vt:lpstr>
      <vt:lpstr>宋体</vt:lpstr>
      <vt:lpstr>Wingdings</vt:lpstr>
      <vt:lpstr>Helvetica Neue</vt:lpstr>
      <vt:lpstr>Helvetica Neue Medium</vt:lpstr>
      <vt:lpstr>Arial</vt:lpstr>
      <vt:lpstr>Helvetica Neue Light</vt:lpstr>
      <vt:lpstr>Cambria Math</vt:lpstr>
      <vt:lpstr>Times New Roman</vt:lpstr>
      <vt:lpstr>微软雅黑</vt:lpstr>
      <vt:lpstr>Arial Unicode MS</vt:lpstr>
      <vt:lpstr>MS Mincho</vt:lpstr>
      <vt:lpstr>等线 Light</vt:lpstr>
      <vt:lpstr>等线</vt:lpstr>
      <vt:lpstr>Segoe Print</vt:lpstr>
      <vt:lpstr>White</vt:lpstr>
      <vt:lpstr>1_White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ininja</dc:creator>
  <cp:lastModifiedBy>毓贞</cp:lastModifiedBy>
  <cp:revision>540</cp:revision>
  <dcterms:created xsi:type="dcterms:W3CDTF">2017-12-05T14:47:00Z</dcterms:created>
  <dcterms:modified xsi:type="dcterms:W3CDTF">2024-12-19T08:18:36Z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2052-11.1.0.12165</vt:lpwstr>
  </property>
  <property fmtid="{D5CDD505-2E9C-101B-9397-08002B2CF9AE}" pid="3" name="ICV">
    <vt:lpwstr>4F49082C8F314DFDB6AC58FEA60EF3FD_12</vt:lpwstr>
  </property>
</Properties>
</file>